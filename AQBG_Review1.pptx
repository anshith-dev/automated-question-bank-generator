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p:spPr>
      </p:sp>
      <p:sp>
        <p:nvSpPr>
          <p:cNvPr id="3" name="Shape 1"/>
          <p:cNvSpPr/>
          <p:nvPr/>
        </p:nvSpPr>
        <p:spPr>
          <a:xfrm>
            <a:off x="8321040" y="0"/>
            <a:ext cx="3867912" cy="6858000"/>
          </a:xfrm>
          <a:prstGeom prst="rect">
            <a:avLst/>
          </a:prstGeom>
          <a:solidFill>
            <a:srgbClr val="1F2430"/>
          </a:solidFill>
          <a:ln/>
        </p:spPr>
      </p:sp>
      <p:pic>
        <p:nvPicPr>
          <p:cNvPr id="4" name="Image 0" descr="kl_logo.png">    </p:cNvPr>
          <p:cNvPicPr>
            <a:picLocks noChangeAspect="1"/>
          </p:cNvPicPr>
          <p:nvPr/>
        </p:nvPicPr>
        <p:blipFill>
          <a:blip r:embed="rId1"/>
          <a:stretch>
            <a:fillRect/>
          </a:stretch>
        </p:blipFill>
        <p:spPr>
          <a:xfrm>
            <a:off x="502920" y="457200"/>
            <a:ext cx="2331720" cy="1271016"/>
          </a:xfrm>
          <a:prstGeom prst="rect">
            <a:avLst/>
          </a:prstGeom>
        </p:spPr>
      </p:pic>
      <p:sp>
        <p:nvSpPr>
          <p:cNvPr id="5" name="Text 2"/>
          <p:cNvSpPr/>
          <p:nvPr/>
        </p:nvSpPr>
        <p:spPr>
          <a:xfrm>
            <a:off x="502920" y="1874520"/>
            <a:ext cx="7498080" cy="320040"/>
          </a:xfrm>
          <a:prstGeom prst="rect">
            <a:avLst/>
          </a:prstGeom>
          <a:noFill/>
          <a:ln/>
        </p:spPr>
        <p:txBody>
          <a:bodyPr wrap="square" rtlCol="0" anchor="ctr"/>
          <a:lstStyle/>
          <a:p>
            <a:pPr indent="0" marL="0">
              <a:buNone/>
            </a:pPr>
            <a:r>
              <a:rPr lang="en-US" sz="1200" spc="150" kern="0" dirty="0">
                <a:solidFill>
                  <a:srgbClr val="5B6472"/>
                </a:solidFill>
                <a:latin typeface="Calibri" pitchFamily="34" charset="0"/>
                <a:ea typeface="Calibri" pitchFamily="34" charset="-122"/>
                <a:cs typeface="Calibri" pitchFamily="34" charset="-120"/>
              </a:rPr>
              <a:t>DEPARTMENT OF COMPUTER SCIENCE &amp; ENGINEERING</a:t>
            </a:r>
            <a:endParaRPr lang="en-US" sz="1200" dirty="0"/>
          </a:p>
        </p:txBody>
      </p:sp>
      <p:sp>
        <p:nvSpPr>
          <p:cNvPr id="6" name="Text 3"/>
          <p:cNvSpPr/>
          <p:nvPr/>
        </p:nvSpPr>
        <p:spPr>
          <a:xfrm>
            <a:off x="502920" y="2194560"/>
            <a:ext cx="7498080" cy="320040"/>
          </a:xfrm>
          <a:prstGeom prst="rect">
            <a:avLst/>
          </a:prstGeom>
          <a:noFill/>
          <a:ln/>
        </p:spPr>
        <p:txBody>
          <a:bodyPr wrap="square" rtlCol="0" anchor="ctr"/>
          <a:lstStyle/>
          <a:p>
            <a:pPr indent="0" marL="0">
              <a:buNone/>
            </a:pPr>
            <a:r>
              <a:rPr lang="en-US" sz="1100" b="1" spc="150" kern="0" dirty="0">
                <a:solidFill>
                  <a:srgbClr val="C4212A"/>
                </a:solidFill>
                <a:latin typeface="Calibri" pitchFamily="34" charset="0"/>
                <a:ea typeface="Calibri" pitchFamily="34" charset="-122"/>
                <a:cs typeface="Calibri" pitchFamily="34" charset="-120"/>
              </a:rPr>
              <a:t>DATA STRUCTURES &amp; ALGORITHMS  ·  MINI PROJECT  ·  REVIEW 1</a:t>
            </a:r>
            <a:endParaRPr lang="en-US" sz="1100" dirty="0"/>
          </a:p>
        </p:txBody>
      </p:sp>
      <p:sp>
        <p:nvSpPr>
          <p:cNvPr id="7" name="Text 4"/>
          <p:cNvSpPr/>
          <p:nvPr/>
        </p:nvSpPr>
        <p:spPr>
          <a:xfrm>
            <a:off x="457200" y="2697480"/>
            <a:ext cx="7589520" cy="1737360"/>
          </a:xfrm>
          <a:prstGeom prst="rect">
            <a:avLst/>
          </a:prstGeom>
          <a:noFill/>
          <a:ln/>
        </p:spPr>
        <p:txBody>
          <a:bodyPr wrap="square" rtlCol="0" anchor="ctr"/>
          <a:lstStyle/>
          <a:p>
            <a:pPr indent="0" marL="0">
              <a:lnSpc>
                <a:spcPts val="4400"/>
              </a:lnSpc>
              <a:buNone/>
            </a:pPr>
            <a:r>
              <a:rPr lang="en-US" sz="4000" b="1" dirty="0">
                <a:solidFill>
                  <a:srgbClr val="1F2430"/>
                </a:solidFill>
                <a:latin typeface="Georgia" pitchFamily="34" charset="0"/>
                <a:ea typeface="Georgia" pitchFamily="34" charset="-122"/>
                <a:cs typeface="Georgia" pitchFamily="34" charset="-120"/>
              </a:rPr>
              <a:t>Automated Question</a:t>
            </a:r>
            <a:endParaRPr lang="en-US" sz="4000" dirty="0"/>
          </a:p>
          <a:p>
            <a:pPr indent="0" marL="0">
              <a:lnSpc>
                <a:spcPts val="4400"/>
              </a:lnSpc>
              <a:buNone/>
            </a:pPr>
            <a:r>
              <a:rPr lang="en-US" sz="4000" b="1" dirty="0">
                <a:solidFill>
                  <a:srgbClr val="1F2430"/>
                </a:solidFill>
                <a:latin typeface="Georgia" pitchFamily="34" charset="0"/>
                <a:ea typeface="Georgia" pitchFamily="34" charset="-122"/>
                <a:cs typeface="Georgia" pitchFamily="34" charset="-120"/>
              </a:rPr>
              <a:t>Bank Generator</a:t>
            </a:r>
            <a:endParaRPr lang="en-US" sz="4000" dirty="0"/>
          </a:p>
        </p:txBody>
      </p:sp>
      <p:sp>
        <p:nvSpPr>
          <p:cNvPr id="8" name="Text 5"/>
          <p:cNvSpPr/>
          <p:nvPr/>
        </p:nvSpPr>
        <p:spPr>
          <a:xfrm>
            <a:off x="502920" y="4434840"/>
            <a:ext cx="7315200" cy="822960"/>
          </a:xfrm>
          <a:prstGeom prst="rect">
            <a:avLst/>
          </a:prstGeom>
          <a:noFill/>
          <a:ln/>
        </p:spPr>
        <p:txBody>
          <a:bodyPr wrap="square" rtlCol="0" anchor="ctr"/>
          <a:lstStyle/>
          <a:p>
            <a:pPr indent="0" marL="0">
              <a:lnSpc>
                <a:spcPts val="2000"/>
              </a:lnSpc>
              <a:buNone/>
            </a:pPr>
            <a:r>
              <a:rPr lang="en-US" sz="1400" dirty="0">
                <a:solidFill>
                  <a:srgbClr val="5B6472"/>
                </a:solidFill>
                <a:latin typeface="Calibri" pitchFamily="34" charset="0"/>
                <a:ea typeface="Calibri" pitchFamily="34" charset="-122"/>
                <a:cs typeface="Calibri" pitchFamily="34" charset="-120"/>
              </a:rPr>
              <a:t>Generating non-redundant, difficulty-balanced, prerequisite-aware question papers using Hashing, Trees, Graphs, and Sorting/Searching.</a:t>
            </a:r>
            <a:endParaRPr lang="en-US" sz="1400" dirty="0"/>
          </a:p>
        </p:txBody>
      </p:sp>
      <p:sp>
        <p:nvSpPr>
          <p:cNvPr id="9" name="Text 6"/>
          <p:cNvSpPr/>
          <p:nvPr/>
        </p:nvSpPr>
        <p:spPr>
          <a:xfrm>
            <a:off x="8732520" y="502920"/>
            <a:ext cx="3017520" cy="320040"/>
          </a:xfrm>
          <a:prstGeom prst="rect">
            <a:avLst/>
          </a:prstGeom>
          <a:noFill/>
          <a:ln/>
        </p:spPr>
        <p:txBody>
          <a:bodyPr wrap="square" rtlCol="0" anchor="ctr"/>
          <a:lstStyle/>
          <a:p>
            <a:pPr indent="0" marL="0">
              <a:buNone/>
            </a:pPr>
            <a:r>
              <a:rPr lang="en-US" sz="1200" b="1" spc="200" kern="0" dirty="0">
                <a:solidFill>
                  <a:srgbClr val="C4212A"/>
                </a:solidFill>
                <a:latin typeface="Calibri" pitchFamily="34" charset="0"/>
                <a:ea typeface="Calibri" pitchFamily="34" charset="-122"/>
                <a:cs typeface="Calibri" pitchFamily="34" charset="-120"/>
              </a:rPr>
              <a:t>TEAM</a:t>
            </a:r>
            <a:endParaRPr lang="en-US" sz="1200" dirty="0"/>
          </a:p>
        </p:txBody>
      </p:sp>
      <p:sp>
        <p:nvSpPr>
          <p:cNvPr id="10" name="Text 7"/>
          <p:cNvSpPr/>
          <p:nvPr/>
        </p:nvSpPr>
        <p:spPr>
          <a:xfrm>
            <a:off x="8732520" y="960120"/>
            <a:ext cx="3017520" cy="29260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 V. Sai Chaitanya</a:t>
            </a:r>
            <a:endParaRPr lang="en-US" sz="1300" dirty="0"/>
          </a:p>
        </p:txBody>
      </p:sp>
      <p:sp>
        <p:nvSpPr>
          <p:cNvPr id="11" name="Text 8"/>
          <p:cNvSpPr/>
          <p:nvPr/>
        </p:nvSpPr>
        <p:spPr>
          <a:xfrm>
            <a:off x="8732520" y="1252728"/>
            <a:ext cx="3017520" cy="274320"/>
          </a:xfrm>
          <a:prstGeom prst="rect">
            <a:avLst/>
          </a:prstGeom>
          <a:noFill/>
          <a:ln/>
        </p:spPr>
        <p:txBody>
          <a:bodyPr wrap="square" rtlCol="0" anchor="ctr"/>
          <a:lstStyle/>
          <a:p>
            <a:pPr indent="0" marL="0">
              <a:buNone/>
            </a:pPr>
            <a:r>
              <a:rPr lang="en-US" sz="1050" dirty="0">
                <a:solidFill>
                  <a:srgbClr val="C9CDD4"/>
                </a:solidFill>
                <a:latin typeface="Calibri" pitchFamily="34" charset="0"/>
                <a:ea typeface="Calibri" pitchFamily="34" charset="-122"/>
                <a:cs typeface="Calibri" pitchFamily="34" charset="-120"/>
              </a:rPr>
              <a:t>2510030096</a:t>
            </a:r>
            <a:endParaRPr lang="en-US" sz="1050" dirty="0"/>
          </a:p>
        </p:txBody>
      </p:sp>
      <p:sp>
        <p:nvSpPr>
          <p:cNvPr id="12" name="Text 9"/>
          <p:cNvSpPr/>
          <p:nvPr/>
        </p:nvSpPr>
        <p:spPr>
          <a:xfrm>
            <a:off x="8732520" y="1709928"/>
            <a:ext cx="3017520" cy="29260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N. Rishivardhan Reddy</a:t>
            </a:r>
            <a:endParaRPr lang="en-US" sz="1300" dirty="0"/>
          </a:p>
        </p:txBody>
      </p:sp>
      <p:sp>
        <p:nvSpPr>
          <p:cNvPr id="13" name="Text 10"/>
          <p:cNvSpPr/>
          <p:nvPr/>
        </p:nvSpPr>
        <p:spPr>
          <a:xfrm>
            <a:off x="8732520" y="2002536"/>
            <a:ext cx="3017520" cy="274320"/>
          </a:xfrm>
          <a:prstGeom prst="rect">
            <a:avLst/>
          </a:prstGeom>
          <a:noFill/>
          <a:ln/>
        </p:spPr>
        <p:txBody>
          <a:bodyPr wrap="square" rtlCol="0" anchor="ctr"/>
          <a:lstStyle/>
          <a:p>
            <a:pPr indent="0" marL="0">
              <a:buNone/>
            </a:pPr>
            <a:r>
              <a:rPr lang="en-US" sz="1050" dirty="0">
                <a:solidFill>
                  <a:srgbClr val="C9CDD4"/>
                </a:solidFill>
                <a:latin typeface="Calibri" pitchFamily="34" charset="0"/>
                <a:ea typeface="Calibri" pitchFamily="34" charset="-122"/>
                <a:cs typeface="Calibri" pitchFamily="34" charset="-120"/>
              </a:rPr>
              <a:t>2510030153</a:t>
            </a:r>
            <a:endParaRPr lang="en-US" sz="1050" dirty="0"/>
          </a:p>
        </p:txBody>
      </p:sp>
      <p:sp>
        <p:nvSpPr>
          <p:cNvPr id="14" name="Text 11"/>
          <p:cNvSpPr/>
          <p:nvPr/>
        </p:nvSpPr>
        <p:spPr>
          <a:xfrm>
            <a:off x="8732520" y="2459736"/>
            <a:ext cx="3017520" cy="29260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Anshith Reddy</a:t>
            </a:r>
            <a:endParaRPr lang="en-US" sz="1300" dirty="0"/>
          </a:p>
        </p:txBody>
      </p:sp>
      <p:sp>
        <p:nvSpPr>
          <p:cNvPr id="15" name="Text 12"/>
          <p:cNvSpPr/>
          <p:nvPr/>
        </p:nvSpPr>
        <p:spPr>
          <a:xfrm>
            <a:off x="8732520" y="2752344"/>
            <a:ext cx="3017520" cy="274320"/>
          </a:xfrm>
          <a:prstGeom prst="rect">
            <a:avLst/>
          </a:prstGeom>
          <a:noFill/>
          <a:ln/>
        </p:spPr>
        <p:txBody>
          <a:bodyPr wrap="square" rtlCol="0" anchor="ctr"/>
          <a:lstStyle/>
          <a:p>
            <a:pPr indent="0" marL="0">
              <a:buNone/>
            </a:pPr>
            <a:r>
              <a:rPr lang="en-US" sz="1050" dirty="0">
                <a:solidFill>
                  <a:srgbClr val="C9CDD4"/>
                </a:solidFill>
                <a:latin typeface="Calibri" pitchFamily="34" charset="0"/>
                <a:ea typeface="Calibri" pitchFamily="34" charset="-122"/>
                <a:cs typeface="Calibri" pitchFamily="34" charset="-120"/>
              </a:rPr>
              <a:t>2510030327</a:t>
            </a:r>
            <a:endParaRPr lang="en-US" sz="1050" dirty="0"/>
          </a:p>
        </p:txBody>
      </p:sp>
      <p:sp>
        <p:nvSpPr>
          <p:cNvPr id="16" name="Text 13"/>
          <p:cNvSpPr/>
          <p:nvPr/>
        </p:nvSpPr>
        <p:spPr>
          <a:xfrm>
            <a:off x="8732520" y="3209544"/>
            <a:ext cx="3017520" cy="29260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Mohammed Affan</a:t>
            </a:r>
            <a:endParaRPr lang="en-US" sz="1300" dirty="0"/>
          </a:p>
        </p:txBody>
      </p:sp>
      <p:sp>
        <p:nvSpPr>
          <p:cNvPr id="17" name="Text 14"/>
          <p:cNvSpPr/>
          <p:nvPr/>
        </p:nvSpPr>
        <p:spPr>
          <a:xfrm>
            <a:off x="8732520" y="3502152"/>
            <a:ext cx="3017520" cy="274320"/>
          </a:xfrm>
          <a:prstGeom prst="rect">
            <a:avLst/>
          </a:prstGeom>
          <a:noFill/>
          <a:ln/>
        </p:spPr>
        <p:txBody>
          <a:bodyPr wrap="square" rtlCol="0" anchor="ctr"/>
          <a:lstStyle/>
          <a:p>
            <a:pPr indent="0" marL="0">
              <a:buNone/>
            </a:pPr>
            <a:r>
              <a:rPr lang="en-US" sz="1050" dirty="0">
                <a:solidFill>
                  <a:srgbClr val="C9CDD4"/>
                </a:solidFill>
                <a:latin typeface="Calibri" pitchFamily="34" charset="0"/>
                <a:ea typeface="Calibri" pitchFamily="34" charset="-122"/>
                <a:cs typeface="Calibri" pitchFamily="34" charset="-120"/>
              </a:rPr>
              <a:t>2510030366</a:t>
            </a:r>
            <a:endParaRPr lang="en-US" sz="1050" dirty="0"/>
          </a:p>
        </p:txBody>
      </p:sp>
      <p:sp>
        <p:nvSpPr>
          <p:cNvPr id="18" name="Shape 15"/>
          <p:cNvSpPr/>
          <p:nvPr/>
        </p:nvSpPr>
        <p:spPr>
          <a:xfrm>
            <a:off x="8732520" y="5623560"/>
            <a:ext cx="457200" cy="457200"/>
          </a:xfrm>
          <a:prstGeom prst="ellipse">
            <a:avLst/>
          </a:prstGeom>
          <a:solidFill>
            <a:srgbClr val="C4212A"/>
          </a:solidFill>
          <a:ln/>
        </p:spPr>
      </p:sp>
      <p:sp>
        <p:nvSpPr>
          <p:cNvPr id="19" name="Text 16"/>
          <p:cNvSpPr/>
          <p:nvPr/>
        </p:nvSpPr>
        <p:spPr>
          <a:xfrm>
            <a:off x="8732520" y="5623560"/>
            <a:ext cx="457200" cy="4572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H</a:t>
            </a:r>
            <a:endParaRPr lang="en-US" sz="1500" dirty="0"/>
          </a:p>
        </p:txBody>
      </p:sp>
      <p:sp>
        <p:nvSpPr>
          <p:cNvPr id="20" name="Text 17"/>
          <p:cNvSpPr/>
          <p:nvPr/>
        </p:nvSpPr>
        <p:spPr>
          <a:xfrm>
            <a:off x="8595360" y="6108192"/>
            <a:ext cx="731520" cy="320040"/>
          </a:xfrm>
          <a:prstGeom prst="rect">
            <a:avLst/>
          </a:prstGeom>
          <a:noFill/>
          <a:ln/>
        </p:spPr>
        <p:txBody>
          <a:bodyPr wrap="square" rtlCol="0" anchor="ctr"/>
          <a:lstStyle/>
          <a:p>
            <a:pPr algn="ctr" indent="0" marL="0">
              <a:buNone/>
            </a:pPr>
            <a:r>
              <a:rPr lang="en-US" sz="800" dirty="0">
                <a:solidFill>
                  <a:srgbClr val="C9CDD4"/>
                </a:solidFill>
                <a:latin typeface="Calibri" pitchFamily="34" charset="0"/>
                <a:ea typeface="Calibri" pitchFamily="34" charset="-122"/>
                <a:cs typeface="Calibri" pitchFamily="34" charset="-120"/>
              </a:rPr>
              <a:t>Hashing</a:t>
            </a:r>
            <a:endParaRPr lang="en-US" sz="800" dirty="0"/>
          </a:p>
        </p:txBody>
      </p:sp>
      <p:sp>
        <p:nvSpPr>
          <p:cNvPr id="21" name="Shape 18"/>
          <p:cNvSpPr/>
          <p:nvPr/>
        </p:nvSpPr>
        <p:spPr>
          <a:xfrm>
            <a:off x="9509760" y="5623560"/>
            <a:ext cx="457200" cy="457200"/>
          </a:xfrm>
          <a:prstGeom prst="ellipse">
            <a:avLst/>
          </a:prstGeom>
          <a:solidFill>
            <a:srgbClr val="C4212A"/>
          </a:solidFill>
          <a:ln/>
        </p:spPr>
      </p:sp>
      <p:sp>
        <p:nvSpPr>
          <p:cNvPr id="22" name="Text 19"/>
          <p:cNvSpPr/>
          <p:nvPr/>
        </p:nvSpPr>
        <p:spPr>
          <a:xfrm>
            <a:off x="9509760" y="5623560"/>
            <a:ext cx="457200" cy="4572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a:t>
            </a:r>
            <a:endParaRPr lang="en-US" sz="1500" dirty="0"/>
          </a:p>
        </p:txBody>
      </p:sp>
      <p:sp>
        <p:nvSpPr>
          <p:cNvPr id="23" name="Text 20"/>
          <p:cNvSpPr/>
          <p:nvPr/>
        </p:nvSpPr>
        <p:spPr>
          <a:xfrm>
            <a:off x="9372600" y="6108192"/>
            <a:ext cx="731520" cy="320040"/>
          </a:xfrm>
          <a:prstGeom prst="rect">
            <a:avLst/>
          </a:prstGeom>
          <a:noFill/>
          <a:ln/>
        </p:spPr>
        <p:txBody>
          <a:bodyPr wrap="square" rtlCol="0" anchor="ctr"/>
          <a:lstStyle/>
          <a:p>
            <a:pPr algn="ctr" indent="0" marL="0">
              <a:buNone/>
            </a:pPr>
            <a:r>
              <a:rPr lang="en-US" sz="800" dirty="0">
                <a:solidFill>
                  <a:srgbClr val="C9CDD4"/>
                </a:solidFill>
                <a:latin typeface="Calibri" pitchFamily="34" charset="0"/>
                <a:ea typeface="Calibri" pitchFamily="34" charset="-122"/>
                <a:cs typeface="Calibri" pitchFamily="34" charset="-120"/>
              </a:rPr>
              <a:t>BST</a:t>
            </a:r>
            <a:endParaRPr lang="en-US" sz="800" dirty="0"/>
          </a:p>
        </p:txBody>
      </p:sp>
      <p:sp>
        <p:nvSpPr>
          <p:cNvPr id="24" name="Shape 21"/>
          <p:cNvSpPr/>
          <p:nvPr/>
        </p:nvSpPr>
        <p:spPr>
          <a:xfrm>
            <a:off x="10287000" y="5623560"/>
            <a:ext cx="457200" cy="457200"/>
          </a:xfrm>
          <a:prstGeom prst="ellipse">
            <a:avLst/>
          </a:prstGeom>
          <a:solidFill>
            <a:srgbClr val="C4212A"/>
          </a:solidFill>
          <a:ln/>
        </p:spPr>
      </p:sp>
      <p:sp>
        <p:nvSpPr>
          <p:cNvPr id="25" name="Text 22"/>
          <p:cNvSpPr/>
          <p:nvPr/>
        </p:nvSpPr>
        <p:spPr>
          <a:xfrm>
            <a:off x="10287000" y="5623560"/>
            <a:ext cx="457200" cy="4572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G</a:t>
            </a:r>
            <a:endParaRPr lang="en-US" sz="1500" dirty="0"/>
          </a:p>
        </p:txBody>
      </p:sp>
      <p:sp>
        <p:nvSpPr>
          <p:cNvPr id="26" name="Text 23"/>
          <p:cNvSpPr/>
          <p:nvPr/>
        </p:nvSpPr>
        <p:spPr>
          <a:xfrm>
            <a:off x="10149840" y="6108192"/>
            <a:ext cx="731520" cy="320040"/>
          </a:xfrm>
          <a:prstGeom prst="rect">
            <a:avLst/>
          </a:prstGeom>
          <a:noFill/>
          <a:ln/>
        </p:spPr>
        <p:txBody>
          <a:bodyPr wrap="square" rtlCol="0" anchor="ctr"/>
          <a:lstStyle/>
          <a:p>
            <a:pPr algn="ctr" indent="0" marL="0">
              <a:buNone/>
            </a:pPr>
            <a:r>
              <a:rPr lang="en-US" sz="800" dirty="0">
                <a:solidFill>
                  <a:srgbClr val="C9CDD4"/>
                </a:solidFill>
                <a:latin typeface="Calibri" pitchFamily="34" charset="0"/>
                <a:ea typeface="Calibri" pitchFamily="34" charset="-122"/>
                <a:cs typeface="Calibri" pitchFamily="34" charset="-120"/>
              </a:rPr>
              <a:t>Graph</a:t>
            </a:r>
            <a:endParaRPr lang="en-US" sz="800" dirty="0"/>
          </a:p>
        </p:txBody>
      </p:sp>
      <p:sp>
        <p:nvSpPr>
          <p:cNvPr id="27" name="Shape 24"/>
          <p:cNvSpPr/>
          <p:nvPr/>
        </p:nvSpPr>
        <p:spPr>
          <a:xfrm>
            <a:off x="11064240" y="5623560"/>
            <a:ext cx="457200" cy="457200"/>
          </a:xfrm>
          <a:prstGeom prst="ellipse">
            <a:avLst/>
          </a:prstGeom>
          <a:solidFill>
            <a:srgbClr val="C4212A"/>
          </a:solidFill>
          <a:ln/>
        </p:spPr>
      </p:sp>
      <p:sp>
        <p:nvSpPr>
          <p:cNvPr id="28" name="Text 25"/>
          <p:cNvSpPr/>
          <p:nvPr/>
        </p:nvSpPr>
        <p:spPr>
          <a:xfrm>
            <a:off x="11064240" y="5623560"/>
            <a:ext cx="457200" cy="4572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S</a:t>
            </a:r>
            <a:endParaRPr lang="en-US" sz="1500" dirty="0"/>
          </a:p>
        </p:txBody>
      </p:sp>
      <p:sp>
        <p:nvSpPr>
          <p:cNvPr id="29" name="Text 26"/>
          <p:cNvSpPr/>
          <p:nvPr/>
        </p:nvSpPr>
        <p:spPr>
          <a:xfrm>
            <a:off x="10927080" y="6108192"/>
            <a:ext cx="731520" cy="320040"/>
          </a:xfrm>
          <a:prstGeom prst="rect">
            <a:avLst/>
          </a:prstGeom>
          <a:noFill/>
          <a:ln/>
        </p:spPr>
        <p:txBody>
          <a:bodyPr wrap="square" rtlCol="0" anchor="ctr"/>
          <a:lstStyle/>
          <a:p>
            <a:pPr algn="ctr" indent="0" marL="0">
              <a:buNone/>
            </a:pPr>
            <a:r>
              <a:rPr lang="en-US" sz="800" dirty="0">
                <a:solidFill>
                  <a:srgbClr val="C9CDD4"/>
                </a:solidFill>
                <a:latin typeface="Calibri" pitchFamily="34" charset="0"/>
                <a:ea typeface="Calibri" pitchFamily="34" charset="-122"/>
                <a:cs typeface="Calibri" pitchFamily="34" charset="-120"/>
              </a:rPr>
              <a:t>Sort/Search</a:t>
            </a:r>
            <a:endParaRPr lang="en-US" sz="800" dirty="0"/>
          </a:p>
        </p:txBody>
      </p:sp>
      <p:sp>
        <p:nvSpPr>
          <p:cNvPr id="30" name="Text 27"/>
          <p:cNvSpPr/>
          <p:nvPr/>
        </p:nvSpPr>
        <p:spPr>
          <a:xfrm>
            <a:off x="457200" y="6528816"/>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Automated Question Bank Generator  ·  Review 1</a:t>
            </a:r>
            <a:endParaRPr lang="en-US" sz="900" dirty="0"/>
          </a:p>
        </p:txBody>
      </p:sp>
      <p:sp>
        <p:nvSpPr>
          <p:cNvPr id="31" name="Text 28"/>
          <p:cNvSpPr/>
          <p:nvPr/>
        </p:nvSpPr>
        <p:spPr>
          <a:xfrm>
            <a:off x="11521440" y="6528816"/>
            <a:ext cx="4572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11480"/>
            <a:ext cx="7315200" cy="548640"/>
          </a:xfrm>
          <a:prstGeom prst="rect">
            <a:avLst/>
          </a:prstGeom>
          <a:noFill/>
          <a:ln/>
        </p:spPr>
        <p:txBody>
          <a:bodyPr wrap="square" rtlCol="0" anchor="ctr"/>
          <a:lstStyle/>
          <a:p>
            <a:pPr indent="0" marL="0">
              <a:buNone/>
            </a:pPr>
            <a:r>
              <a:rPr lang="en-US" sz="3000" b="1" dirty="0">
                <a:solidFill>
                  <a:srgbClr val="1F2430"/>
                </a:solidFill>
                <a:latin typeface="Georgia" pitchFamily="34" charset="0"/>
                <a:ea typeface="Georgia" pitchFamily="34" charset="-122"/>
                <a:cs typeface="Georgia" pitchFamily="34" charset="-120"/>
              </a:rPr>
              <a:t>Abstract</a:t>
            </a:r>
            <a:endParaRPr lang="en-US" sz="3000" dirty="0"/>
          </a:p>
        </p:txBody>
      </p:sp>
      <p:sp>
        <p:nvSpPr>
          <p:cNvPr id="3" name="Shape 1"/>
          <p:cNvSpPr/>
          <p:nvPr/>
        </p:nvSpPr>
        <p:spPr>
          <a:xfrm>
            <a:off x="521208" y="1024128"/>
            <a:ext cx="502920" cy="54864"/>
          </a:xfrm>
          <a:prstGeom prst="rect">
            <a:avLst/>
          </a:prstGeom>
          <a:solidFill>
            <a:srgbClr val="C4212A"/>
          </a:solidFill>
          <a:ln/>
        </p:spPr>
      </p:sp>
      <p:sp>
        <p:nvSpPr>
          <p:cNvPr id="4" name="Text 2"/>
          <p:cNvSpPr/>
          <p:nvPr/>
        </p:nvSpPr>
        <p:spPr>
          <a:xfrm>
            <a:off x="502920" y="1325880"/>
            <a:ext cx="7040880" cy="4937760"/>
          </a:xfrm>
          <a:prstGeom prst="rect">
            <a:avLst/>
          </a:prstGeom>
          <a:noFill/>
          <a:ln/>
        </p:spPr>
        <p:txBody>
          <a:bodyPr wrap="square" rtlCol="0" anchor="ctr"/>
          <a:lstStyle/>
          <a:p>
            <a:pPr indent="0" marL="0">
              <a:lnSpc>
                <a:spcPts val="2100"/>
              </a:lnSpc>
              <a:buNone/>
            </a:pPr>
            <a:r>
              <a:rPr lang="en-US" sz="1350" dirty="0">
                <a:solidFill>
                  <a:srgbClr val="1F2430"/>
                </a:solidFill>
                <a:latin typeface="Calibri" pitchFamily="34" charset="0"/>
                <a:ea typeface="Calibri" pitchFamily="34" charset="-122"/>
                <a:cs typeface="Calibri" pitchFamily="34" charset="-120"/>
              </a:rPr>
              <a:t>Manually preparing exam papers is slow and inconsistent — setters repeat questions, misjudge difficulty balance, and ignore topic prerequisites. This project designs an Automated Question Bank Generator (AQBG) that stores, organizes, and assembles questions using classical data structures instead of ad-hoc scripts.</a:t>
            </a:r>
            <a:endParaRPr lang="en-US" sz="1350" dirty="0"/>
          </a:p>
          <a:p>
            <a:pPr indent="0" marL="0">
              <a:lnSpc>
                <a:spcPts val="2100"/>
              </a:lnSpc>
              <a:buNone/>
            </a:pPr>
            <a:endParaRPr lang="en-US" sz="1350" dirty="0"/>
          </a:p>
          <a:p>
            <a:pPr indent="0" marL="0">
              <a:lnSpc>
                <a:spcPts val="2100"/>
              </a:lnSpc>
              <a:buNone/>
            </a:pPr>
            <a:r>
              <a:rPr lang="en-US" sz="1350" dirty="0">
                <a:solidFill>
                  <a:srgbClr val="1F2430"/>
                </a:solidFill>
                <a:latin typeface="Calibri" pitchFamily="34" charset="0"/>
                <a:ea typeface="Calibri" pitchFamily="34" charset="-122"/>
                <a:cs typeface="Calibri" pitchFamily="34" charset="-120"/>
              </a:rPr>
              <a:t>A hash table filters duplicate or near-duplicate questions in O(1) average time. A binary search tree indexes the bank by difficulty, enabling ordered retrieval. A directed graph models prerequisite relationships between topics, and a topological sort keeps generated papers syllabus-consistent. Sorting and searching routines then shuffle and assemble a balanced, non-repetitive paper on demand.</a:t>
            </a:r>
            <a:endParaRPr lang="en-US" sz="1350" dirty="0"/>
          </a:p>
          <a:p>
            <a:pPr indent="0" marL="0">
              <a:lnSpc>
                <a:spcPts val="2100"/>
              </a:lnSpc>
              <a:buNone/>
            </a:pPr>
            <a:endParaRPr lang="en-US" sz="1350" dirty="0"/>
          </a:p>
          <a:p>
            <a:pPr indent="0" marL="0">
              <a:lnSpc>
                <a:spcPts val="2100"/>
              </a:lnSpc>
              <a:buNone/>
            </a:pPr>
            <a:r>
              <a:rPr lang="en-US" sz="1350" dirty="0">
                <a:solidFill>
                  <a:srgbClr val="1F2430"/>
                </a:solidFill>
                <a:latin typeface="Calibri" pitchFamily="34" charset="0"/>
                <a:ea typeface="Calibri" pitchFamily="34" charset="-122"/>
                <a:cs typeface="Calibri" pitchFamily="34" charset="-120"/>
              </a:rPr>
              <a:t>The result is a reusable engine that produces fair, varied, and syllabus-aligned question papers in a fraction of the time manual setting requires — demonstrating four core DSA concepts in one integrated pipeline.</a:t>
            </a:r>
            <a:endParaRPr lang="en-US" sz="1350" dirty="0"/>
          </a:p>
        </p:txBody>
      </p:sp>
      <p:sp>
        <p:nvSpPr>
          <p:cNvPr id="5" name="Shape 3"/>
          <p:cNvSpPr/>
          <p:nvPr/>
        </p:nvSpPr>
        <p:spPr>
          <a:xfrm>
            <a:off x="7909560" y="1325880"/>
            <a:ext cx="3794760" cy="5074920"/>
          </a:xfrm>
          <a:prstGeom prst="rect">
            <a:avLst/>
          </a:prstGeom>
          <a:solidFill>
            <a:srgbClr val="F7F6F4"/>
          </a:solidFill>
          <a:ln w="12700">
            <a:solidFill>
              <a:srgbClr val="E7E5E2"/>
            </a:solidFill>
            <a:prstDash val="solid"/>
          </a:ln>
        </p:spPr>
      </p:sp>
      <p:sp>
        <p:nvSpPr>
          <p:cNvPr id="6" name="Text 4"/>
          <p:cNvSpPr/>
          <p:nvPr/>
        </p:nvSpPr>
        <p:spPr>
          <a:xfrm>
            <a:off x="8183880" y="1508760"/>
            <a:ext cx="3291840" cy="320040"/>
          </a:xfrm>
          <a:prstGeom prst="rect">
            <a:avLst/>
          </a:prstGeom>
          <a:noFill/>
          <a:ln/>
        </p:spPr>
        <p:txBody>
          <a:bodyPr wrap="square" rtlCol="0" anchor="ctr"/>
          <a:lstStyle/>
          <a:p>
            <a:pPr indent="0" marL="0">
              <a:buNone/>
            </a:pPr>
            <a:r>
              <a:rPr lang="en-US" sz="1100" b="1" spc="150" kern="0" dirty="0">
                <a:solidFill>
                  <a:srgbClr val="C4212A"/>
                </a:solidFill>
                <a:latin typeface="Calibri" pitchFamily="34" charset="0"/>
                <a:ea typeface="Calibri" pitchFamily="34" charset="-122"/>
                <a:cs typeface="Calibri" pitchFamily="34" charset="-120"/>
              </a:rPr>
              <a:t>AT A GLANCE</a:t>
            </a:r>
            <a:endParaRPr lang="en-US" sz="1100" dirty="0"/>
          </a:p>
        </p:txBody>
      </p:sp>
      <p:sp>
        <p:nvSpPr>
          <p:cNvPr id="7" name="Text 5"/>
          <p:cNvSpPr/>
          <p:nvPr/>
        </p:nvSpPr>
        <p:spPr>
          <a:xfrm>
            <a:off x="8183880" y="1965960"/>
            <a:ext cx="3291840" cy="274320"/>
          </a:xfrm>
          <a:prstGeom prst="rect">
            <a:avLst/>
          </a:prstGeom>
          <a:noFill/>
          <a:ln/>
        </p:spPr>
        <p:txBody>
          <a:bodyPr wrap="square" rtlCol="0" anchor="ctr"/>
          <a:lstStyle/>
          <a:p>
            <a:pPr indent="0" marL="0">
              <a:buNone/>
            </a:pPr>
            <a:r>
              <a:rPr lang="en-US" sz="950" spc="50" kern="0" dirty="0">
                <a:solidFill>
                  <a:srgbClr val="5B6472"/>
                </a:solidFill>
                <a:latin typeface="Calibri" pitchFamily="34" charset="0"/>
                <a:ea typeface="Calibri" pitchFamily="34" charset="-122"/>
                <a:cs typeface="Calibri" pitchFamily="34" charset="-120"/>
              </a:rPr>
              <a:t>CORE STRUCTURES</a:t>
            </a:r>
            <a:endParaRPr lang="en-US" sz="950" dirty="0"/>
          </a:p>
        </p:txBody>
      </p:sp>
      <p:sp>
        <p:nvSpPr>
          <p:cNvPr id="8" name="Text 6"/>
          <p:cNvSpPr/>
          <p:nvPr/>
        </p:nvSpPr>
        <p:spPr>
          <a:xfrm>
            <a:off x="8183880" y="2212848"/>
            <a:ext cx="3291840" cy="365760"/>
          </a:xfrm>
          <a:prstGeom prst="rect">
            <a:avLst/>
          </a:prstGeom>
          <a:noFill/>
          <a:ln/>
        </p:spPr>
        <p:txBody>
          <a:bodyPr wrap="square" rtlCol="0" anchor="ctr"/>
          <a:lstStyle/>
          <a:p>
            <a:pPr indent="0" marL="0">
              <a:buNone/>
            </a:pPr>
            <a:r>
              <a:rPr lang="en-US" sz="1450" b="1" dirty="0">
                <a:solidFill>
                  <a:srgbClr val="1F2430"/>
                </a:solidFill>
                <a:latin typeface="Calibri" pitchFamily="34" charset="0"/>
                <a:ea typeface="Calibri" pitchFamily="34" charset="-122"/>
                <a:cs typeface="Calibri" pitchFamily="34" charset="-120"/>
              </a:rPr>
              <a:t>Hash Table · BST · Graph · Sort/Search</a:t>
            </a:r>
            <a:endParaRPr lang="en-US" sz="1450" dirty="0"/>
          </a:p>
        </p:txBody>
      </p:sp>
      <p:sp>
        <p:nvSpPr>
          <p:cNvPr id="9" name="Shape 7"/>
          <p:cNvSpPr/>
          <p:nvPr/>
        </p:nvSpPr>
        <p:spPr>
          <a:xfrm>
            <a:off x="8183880" y="2761488"/>
            <a:ext cx="3246120" cy="0"/>
          </a:xfrm>
          <a:prstGeom prst="line">
            <a:avLst/>
          </a:prstGeom>
          <a:noFill/>
          <a:ln w="12700">
            <a:solidFill>
              <a:srgbClr val="E7E5E2"/>
            </a:solidFill>
            <a:prstDash val="solid"/>
          </a:ln>
        </p:spPr>
      </p:sp>
      <p:sp>
        <p:nvSpPr>
          <p:cNvPr id="10" name="Text 8"/>
          <p:cNvSpPr/>
          <p:nvPr/>
        </p:nvSpPr>
        <p:spPr>
          <a:xfrm>
            <a:off x="8183880" y="2843784"/>
            <a:ext cx="3291840" cy="274320"/>
          </a:xfrm>
          <a:prstGeom prst="rect">
            <a:avLst/>
          </a:prstGeom>
          <a:noFill/>
          <a:ln/>
        </p:spPr>
        <p:txBody>
          <a:bodyPr wrap="square" rtlCol="0" anchor="ctr"/>
          <a:lstStyle/>
          <a:p>
            <a:pPr indent="0" marL="0">
              <a:buNone/>
            </a:pPr>
            <a:r>
              <a:rPr lang="en-US" sz="950" spc="50" kern="0" dirty="0">
                <a:solidFill>
                  <a:srgbClr val="5B6472"/>
                </a:solidFill>
                <a:latin typeface="Calibri" pitchFamily="34" charset="0"/>
                <a:ea typeface="Calibri" pitchFamily="34" charset="-122"/>
                <a:cs typeface="Calibri" pitchFamily="34" charset="-120"/>
              </a:rPr>
              <a:t>AVG. DUPLICATE CHECK</a:t>
            </a:r>
            <a:endParaRPr lang="en-US" sz="950" dirty="0"/>
          </a:p>
        </p:txBody>
      </p:sp>
      <p:sp>
        <p:nvSpPr>
          <p:cNvPr id="11" name="Text 9"/>
          <p:cNvSpPr/>
          <p:nvPr/>
        </p:nvSpPr>
        <p:spPr>
          <a:xfrm>
            <a:off x="8183880" y="3090672"/>
            <a:ext cx="3291840" cy="365760"/>
          </a:xfrm>
          <a:prstGeom prst="rect">
            <a:avLst/>
          </a:prstGeom>
          <a:noFill/>
          <a:ln/>
        </p:spPr>
        <p:txBody>
          <a:bodyPr wrap="square" rtlCol="0" anchor="ctr"/>
          <a:lstStyle/>
          <a:p>
            <a:pPr indent="0" marL="0">
              <a:buNone/>
            </a:pPr>
            <a:r>
              <a:rPr lang="en-US" sz="1450" b="1" dirty="0">
                <a:solidFill>
                  <a:srgbClr val="1F2430"/>
                </a:solidFill>
                <a:latin typeface="Calibri" pitchFamily="34" charset="0"/>
                <a:ea typeface="Calibri" pitchFamily="34" charset="-122"/>
                <a:cs typeface="Calibri" pitchFamily="34" charset="-120"/>
              </a:rPr>
              <a:t>O(1)</a:t>
            </a:r>
            <a:endParaRPr lang="en-US" sz="1450" dirty="0"/>
          </a:p>
        </p:txBody>
      </p:sp>
      <p:sp>
        <p:nvSpPr>
          <p:cNvPr id="12" name="Shape 10"/>
          <p:cNvSpPr/>
          <p:nvPr/>
        </p:nvSpPr>
        <p:spPr>
          <a:xfrm>
            <a:off x="8183880" y="3639312"/>
            <a:ext cx="3246120" cy="0"/>
          </a:xfrm>
          <a:prstGeom prst="line">
            <a:avLst/>
          </a:prstGeom>
          <a:noFill/>
          <a:ln w="12700">
            <a:solidFill>
              <a:srgbClr val="E7E5E2"/>
            </a:solidFill>
            <a:prstDash val="solid"/>
          </a:ln>
        </p:spPr>
      </p:sp>
      <p:sp>
        <p:nvSpPr>
          <p:cNvPr id="13" name="Text 11"/>
          <p:cNvSpPr/>
          <p:nvPr/>
        </p:nvSpPr>
        <p:spPr>
          <a:xfrm>
            <a:off x="8183880" y="3721608"/>
            <a:ext cx="3291840" cy="274320"/>
          </a:xfrm>
          <a:prstGeom prst="rect">
            <a:avLst/>
          </a:prstGeom>
          <a:noFill/>
          <a:ln/>
        </p:spPr>
        <p:txBody>
          <a:bodyPr wrap="square" rtlCol="0" anchor="ctr"/>
          <a:lstStyle/>
          <a:p>
            <a:pPr indent="0" marL="0">
              <a:buNone/>
            </a:pPr>
            <a:r>
              <a:rPr lang="en-US" sz="950" spc="50" kern="0" dirty="0">
                <a:solidFill>
                  <a:srgbClr val="5B6472"/>
                </a:solidFill>
                <a:latin typeface="Calibri" pitchFamily="34" charset="0"/>
                <a:ea typeface="Calibri" pitchFamily="34" charset="-122"/>
                <a:cs typeface="Calibri" pitchFamily="34" charset="-120"/>
              </a:rPr>
              <a:t>DIFFICULTY LOOKUP</a:t>
            </a:r>
            <a:endParaRPr lang="en-US" sz="950" dirty="0"/>
          </a:p>
        </p:txBody>
      </p:sp>
      <p:sp>
        <p:nvSpPr>
          <p:cNvPr id="14" name="Text 12"/>
          <p:cNvSpPr/>
          <p:nvPr/>
        </p:nvSpPr>
        <p:spPr>
          <a:xfrm>
            <a:off x="8183880" y="3968496"/>
            <a:ext cx="3291840" cy="365760"/>
          </a:xfrm>
          <a:prstGeom prst="rect">
            <a:avLst/>
          </a:prstGeom>
          <a:noFill/>
          <a:ln/>
        </p:spPr>
        <p:txBody>
          <a:bodyPr wrap="square" rtlCol="0" anchor="ctr"/>
          <a:lstStyle/>
          <a:p>
            <a:pPr indent="0" marL="0">
              <a:buNone/>
            </a:pPr>
            <a:r>
              <a:rPr lang="en-US" sz="1450" b="1" dirty="0">
                <a:solidFill>
                  <a:srgbClr val="1F2430"/>
                </a:solidFill>
                <a:latin typeface="Calibri" pitchFamily="34" charset="0"/>
                <a:ea typeface="Calibri" pitchFamily="34" charset="-122"/>
                <a:cs typeface="Calibri" pitchFamily="34" charset="-120"/>
              </a:rPr>
              <a:t>O(log n)</a:t>
            </a:r>
            <a:endParaRPr lang="en-US" sz="1450" dirty="0"/>
          </a:p>
        </p:txBody>
      </p:sp>
      <p:sp>
        <p:nvSpPr>
          <p:cNvPr id="15" name="Shape 13"/>
          <p:cNvSpPr/>
          <p:nvPr/>
        </p:nvSpPr>
        <p:spPr>
          <a:xfrm>
            <a:off x="8183880" y="4517136"/>
            <a:ext cx="3246120" cy="0"/>
          </a:xfrm>
          <a:prstGeom prst="line">
            <a:avLst/>
          </a:prstGeom>
          <a:noFill/>
          <a:ln w="12700">
            <a:solidFill>
              <a:srgbClr val="E7E5E2"/>
            </a:solidFill>
            <a:prstDash val="solid"/>
          </a:ln>
        </p:spPr>
      </p:sp>
      <p:sp>
        <p:nvSpPr>
          <p:cNvPr id="16" name="Text 14"/>
          <p:cNvSpPr/>
          <p:nvPr/>
        </p:nvSpPr>
        <p:spPr>
          <a:xfrm>
            <a:off x="8183880" y="4599432"/>
            <a:ext cx="3291840" cy="274320"/>
          </a:xfrm>
          <a:prstGeom prst="rect">
            <a:avLst/>
          </a:prstGeom>
          <a:noFill/>
          <a:ln/>
        </p:spPr>
        <p:txBody>
          <a:bodyPr wrap="square" rtlCol="0" anchor="ctr"/>
          <a:lstStyle/>
          <a:p>
            <a:pPr indent="0" marL="0">
              <a:buNone/>
            </a:pPr>
            <a:r>
              <a:rPr lang="en-US" sz="950" spc="50" kern="0" dirty="0">
                <a:solidFill>
                  <a:srgbClr val="5B6472"/>
                </a:solidFill>
                <a:latin typeface="Calibri" pitchFamily="34" charset="0"/>
                <a:ea typeface="Calibri" pitchFamily="34" charset="-122"/>
                <a:cs typeface="Calibri" pitchFamily="34" charset="-120"/>
              </a:rPr>
              <a:t>PREREQUISITE ORDERING</a:t>
            </a:r>
            <a:endParaRPr lang="en-US" sz="950" dirty="0"/>
          </a:p>
        </p:txBody>
      </p:sp>
      <p:sp>
        <p:nvSpPr>
          <p:cNvPr id="17" name="Text 15"/>
          <p:cNvSpPr/>
          <p:nvPr/>
        </p:nvSpPr>
        <p:spPr>
          <a:xfrm>
            <a:off x="8183880" y="4846320"/>
            <a:ext cx="3291840" cy="365760"/>
          </a:xfrm>
          <a:prstGeom prst="rect">
            <a:avLst/>
          </a:prstGeom>
          <a:noFill/>
          <a:ln/>
        </p:spPr>
        <p:txBody>
          <a:bodyPr wrap="square" rtlCol="0" anchor="ctr"/>
          <a:lstStyle/>
          <a:p>
            <a:pPr indent="0" marL="0">
              <a:buNone/>
            </a:pPr>
            <a:r>
              <a:rPr lang="en-US" sz="1450" b="1" dirty="0">
                <a:solidFill>
                  <a:srgbClr val="1F2430"/>
                </a:solidFill>
                <a:latin typeface="Calibri" pitchFamily="34" charset="0"/>
                <a:ea typeface="Calibri" pitchFamily="34" charset="-122"/>
                <a:cs typeface="Calibri" pitchFamily="34" charset="-120"/>
              </a:rPr>
              <a:t>O(V + E)</a:t>
            </a:r>
            <a:endParaRPr lang="en-US" sz="1450" dirty="0"/>
          </a:p>
        </p:txBody>
      </p:sp>
      <p:sp>
        <p:nvSpPr>
          <p:cNvPr id="18" name="Shape 16"/>
          <p:cNvSpPr/>
          <p:nvPr/>
        </p:nvSpPr>
        <p:spPr>
          <a:xfrm>
            <a:off x="8183880" y="5394960"/>
            <a:ext cx="3246120" cy="0"/>
          </a:xfrm>
          <a:prstGeom prst="line">
            <a:avLst/>
          </a:prstGeom>
          <a:noFill/>
          <a:ln w="12700">
            <a:solidFill>
              <a:srgbClr val="E7E5E2"/>
            </a:solidFill>
            <a:prstDash val="solid"/>
          </a:ln>
        </p:spPr>
      </p:sp>
      <p:sp>
        <p:nvSpPr>
          <p:cNvPr id="19" name="Text 17"/>
          <p:cNvSpPr/>
          <p:nvPr/>
        </p:nvSpPr>
        <p:spPr>
          <a:xfrm>
            <a:off x="8183880" y="5477256"/>
            <a:ext cx="3291840" cy="274320"/>
          </a:xfrm>
          <a:prstGeom prst="rect">
            <a:avLst/>
          </a:prstGeom>
          <a:noFill/>
          <a:ln/>
        </p:spPr>
        <p:txBody>
          <a:bodyPr wrap="square" rtlCol="0" anchor="ctr"/>
          <a:lstStyle/>
          <a:p>
            <a:pPr indent="0" marL="0">
              <a:buNone/>
            </a:pPr>
            <a:r>
              <a:rPr lang="en-US" sz="950" spc="50" kern="0" dirty="0">
                <a:solidFill>
                  <a:srgbClr val="5B6472"/>
                </a:solidFill>
                <a:latin typeface="Calibri" pitchFamily="34" charset="0"/>
                <a:ea typeface="Calibri" pitchFamily="34" charset="-122"/>
                <a:cs typeface="Calibri" pitchFamily="34" charset="-120"/>
              </a:rPr>
              <a:t>OUTPUT</a:t>
            </a:r>
            <a:endParaRPr lang="en-US" sz="950" dirty="0"/>
          </a:p>
        </p:txBody>
      </p:sp>
      <p:sp>
        <p:nvSpPr>
          <p:cNvPr id="20" name="Text 18"/>
          <p:cNvSpPr/>
          <p:nvPr/>
        </p:nvSpPr>
        <p:spPr>
          <a:xfrm>
            <a:off x="8183880" y="5724144"/>
            <a:ext cx="3291840" cy="365760"/>
          </a:xfrm>
          <a:prstGeom prst="rect">
            <a:avLst/>
          </a:prstGeom>
          <a:noFill/>
          <a:ln/>
        </p:spPr>
        <p:txBody>
          <a:bodyPr wrap="square" rtlCol="0" anchor="ctr"/>
          <a:lstStyle/>
          <a:p>
            <a:pPr indent="0" marL="0">
              <a:buNone/>
            </a:pPr>
            <a:r>
              <a:rPr lang="en-US" sz="1450" b="1" dirty="0">
                <a:solidFill>
                  <a:srgbClr val="1F2430"/>
                </a:solidFill>
                <a:latin typeface="Calibri" pitchFamily="34" charset="0"/>
                <a:ea typeface="Calibri" pitchFamily="34" charset="-122"/>
                <a:cs typeface="Calibri" pitchFamily="34" charset="-120"/>
              </a:rPr>
              <a:t>Balanced, shuffled paper</a:t>
            </a:r>
            <a:endParaRPr lang="en-US" sz="1450" dirty="0"/>
          </a:p>
        </p:txBody>
      </p:sp>
      <p:sp>
        <p:nvSpPr>
          <p:cNvPr id="21" name="Text 19"/>
          <p:cNvSpPr/>
          <p:nvPr/>
        </p:nvSpPr>
        <p:spPr>
          <a:xfrm>
            <a:off x="457200" y="6528816"/>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Automated Question Bank Generator  ·  Review 1</a:t>
            </a:r>
            <a:endParaRPr lang="en-US" sz="900" dirty="0"/>
          </a:p>
        </p:txBody>
      </p:sp>
      <p:sp>
        <p:nvSpPr>
          <p:cNvPr id="22" name="Text 20"/>
          <p:cNvSpPr/>
          <p:nvPr/>
        </p:nvSpPr>
        <p:spPr>
          <a:xfrm>
            <a:off x="11521440" y="6528816"/>
            <a:ext cx="4572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11480"/>
            <a:ext cx="9144000" cy="548640"/>
          </a:xfrm>
          <a:prstGeom prst="rect">
            <a:avLst/>
          </a:prstGeom>
          <a:noFill/>
          <a:ln/>
        </p:spPr>
        <p:txBody>
          <a:bodyPr wrap="square" rtlCol="0" anchor="ctr"/>
          <a:lstStyle/>
          <a:p>
            <a:pPr indent="0" marL="0">
              <a:buNone/>
            </a:pPr>
            <a:r>
              <a:rPr lang="en-US" sz="2800" b="1" dirty="0">
                <a:solidFill>
                  <a:srgbClr val="1F2430"/>
                </a:solidFill>
                <a:latin typeface="Georgia" pitchFamily="34" charset="0"/>
                <a:ea typeface="Georgia" pitchFamily="34" charset="-122"/>
                <a:cs typeface="Georgia" pitchFamily="34" charset="-120"/>
              </a:rPr>
              <a:t>Problem Statement &amp; Objectives</a:t>
            </a:r>
            <a:endParaRPr lang="en-US" sz="2800" dirty="0"/>
          </a:p>
        </p:txBody>
      </p:sp>
      <p:sp>
        <p:nvSpPr>
          <p:cNvPr id="3" name="Shape 1"/>
          <p:cNvSpPr/>
          <p:nvPr/>
        </p:nvSpPr>
        <p:spPr>
          <a:xfrm>
            <a:off x="521208" y="1005840"/>
            <a:ext cx="502920" cy="54864"/>
          </a:xfrm>
          <a:prstGeom prst="rect">
            <a:avLst/>
          </a:prstGeom>
          <a:solidFill>
            <a:srgbClr val="C4212A"/>
          </a:solidFill>
          <a:ln/>
        </p:spPr>
      </p:sp>
      <p:sp>
        <p:nvSpPr>
          <p:cNvPr id="4" name="Shape 2"/>
          <p:cNvSpPr/>
          <p:nvPr/>
        </p:nvSpPr>
        <p:spPr>
          <a:xfrm>
            <a:off x="502920" y="1371600"/>
            <a:ext cx="5440680" cy="4892040"/>
          </a:xfrm>
          <a:prstGeom prst="rect">
            <a:avLst/>
          </a:prstGeom>
          <a:solidFill>
            <a:srgbClr val="F7F6F4"/>
          </a:solidFill>
          <a:ln w="12700">
            <a:solidFill>
              <a:srgbClr val="E7E5E2"/>
            </a:solidFill>
            <a:prstDash val="solid"/>
          </a:ln>
        </p:spPr>
      </p:sp>
      <p:sp>
        <p:nvSpPr>
          <p:cNvPr id="5" name="Text 3"/>
          <p:cNvSpPr/>
          <p:nvPr/>
        </p:nvSpPr>
        <p:spPr>
          <a:xfrm>
            <a:off x="777240" y="1600200"/>
            <a:ext cx="4937760" cy="320040"/>
          </a:xfrm>
          <a:prstGeom prst="rect">
            <a:avLst/>
          </a:prstGeom>
          <a:noFill/>
          <a:ln/>
        </p:spPr>
        <p:txBody>
          <a:bodyPr wrap="square" rtlCol="0" anchor="ctr"/>
          <a:lstStyle/>
          <a:p>
            <a:pPr indent="0" marL="0">
              <a:buNone/>
            </a:pPr>
            <a:r>
              <a:rPr lang="en-US" sz="1200" b="1" spc="150" kern="0" dirty="0">
                <a:solidFill>
                  <a:srgbClr val="C4212A"/>
                </a:solidFill>
                <a:latin typeface="Calibri" pitchFamily="34" charset="0"/>
                <a:ea typeface="Calibri" pitchFamily="34" charset="-122"/>
                <a:cs typeface="Calibri" pitchFamily="34" charset="-120"/>
              </a:rPr>
              <a:t>THE PROBLEM</a:t>
            </a:r>
            <a:endParaRPr lang="en-US" sz="1200" dirty="0"/>
          </a:p>
        </p:txBody>
      </p:sp>
      <p:sp>
        <p:nvSpPr>
          <p:cNvPr id="6" name="Shape 4"/>
          <p:cNvSpPr/>
          <p:nvPr/>
        </p:nvSpPr>
        <p:spPr>
          <a:xfrm>
            <a:off x="822960" y="2157984"/>
            <a:ext cx="82296" cy="82296"/>
          </a:xfrm>
          <a:prstGeom prst="ellipse">
            <a:avLst/>
          </a:prstGeom>
          <a:solidFill>
            <a:srgbClr val="C4212A"/>
          </a:solidFill>
          <a:ln/>
        </p:spPr>
      </p:sp>
      <p:sp>
        <p:nvSpPr>
          <p:cNvPr id="7" name="Text 5"/>
          <p:cNvSpPr/>
          <p:nvPr/>
        </p:nvSpPr>
        <p:spPr>
          <a:xfrm>
            <a:off x="1051560" y="2029968"/>
            <a:ext cx="4663440" cy="685800"/>
          </a:xfrm>
          <a:prstGeom prst="rect">
            <a:avLst/>
          </a:prstGeom>
          <a:noFill/>
          <a:ln/>
        </p:spPr>
        <p:txBody>
          <a:bodyPr wrap="square" rtlCol="0" anchor="ctr"/>
          <a:lstStyle/>
          <a:p>
            <a:pPr indent="0" marL="0">
              <a:lnSpc>
                <a:spcPts val="1700"/>
              </a:lnSpc>
              <a:buNone/>
            </a:pPr>
            <a:r>
              <a:rPr lang="en-US" sz="1300" dirty="0">
                <a:solidFill>
                  <a:srgbClr val="1F2430"/>
                </a:solidFill>
                <a:latin typeface="Calibri" pitchFamily="34" charset="0"/>
                <a:ea typeface="Calibri" pitchFamily="34" charset="-122"/>
                <a:cs typeface="Calibri" pitchFamily="34" charset="-120"/>
              </a:rPr>
              <a:t>Repeated questions across successive exams</a:t>
            </a:r>
            <a:endParaRPr lang="en-US" sz="1300" dirty="0"/>
          </a:p>
        </p:txBody>
      </p:sp>
      <p:sp>
        <p:nvSpPr>
          <p:cNvPr id="8" name="Shape 6"/>
          <p:cNvSpPr/>
          <p:nvPr/>
        </p:nvSpPr>
        <p:spPr>
          <a:xfrm>
            <a:off x="822960" y="3191256"/>
            <a:ext cx="82296" cy="82296"/>
          </a:xfrm>
          <a:prstGeom prst="ellipse">
            <a:avLst/>
          </a:prstGeom>
          <a:solidFill>
            <a:srgbClr val="C4212A"/>
          </a:solidFill>
          <a:ln/>
        </p:spPr>
      </p:sp>
      <p:sp>
        <p:nvSpPr>
          <p:cNvPr id="9" name="Text 7"/>
          <p:cNvSpPr/>
          <p:nvPr/>
        </p:nvSpPr>
        <p:spPr>
          <a:xfrm>
            <a:off x="1051560" y="3063240"/>
            <a:ext cx="4663440" cy="685800"/>
          </a:xfrm>
          <a:prstGeom prst="rect">
            <a:avLst/>
          </a:prstGeom>
          <a:noFill/>
          <a:ln/>
        </p:spPr>
        <p:txBody>
          <a:bodyPr wrap="square" rtlCol="0" anchor="ctr"/>
          <a:lstStyle/>
          <a:p>
            <a:pPr indent="0" marL="0">
              <a:lnSpc>
                <a:spcPts val="1700"/>
              </a:lnSpc>
              <a:buNone/>
            </a:pPr>
            <a:r>
              <a:rPr lang="en-US" sz="1300" dirty="0">
                <a:solidFill>
                  <a:srgbClr val="1F2430"/>
                </a:solidFill>
                <a:latin typeface="Calibri" pitchFamily="34" charset="0"/>
                <a:ea typeface="Calibri" pitchFamily="34" charset="-122"/>
                <a:cs typeface="Calibri" pitchFamily="34" charset="-120"/>
              </a:rPr>
              <a:t>No systematic way to balance easy / medium / hard questions</a:t>
            </a:r>
            <a:endParaRPr lang="en-US" sz="1300" dirty="0"/>
          </a:p>
        </p:txBody>
      </p:sp>
      <p:sp>
        <p:nvSpPr>
          <p:cNvPr id="10" name="Shape 8"/>
          <p:cNvSpPr/>
          <p:nvPr/>
        </p:nvSpPr>
        <p:spPr>
          <a:xfrm>
            <a:off x="822960" y="4224528"/>
            <a:ext cx="82296" cy="82296"/>
          </a:xfrm>
          <a:prstGeom prst="ellipse">
            <a:avLst/>
          </a:prstGeom>
          <a:solidFill>
            <a:srgbClr val="C4212A"/>
          </a:solidFill>
          <a:ln/>
        </p:spPr>
      </p:sp>
      <p:sp>
        <p:nvSpPr>
          <p:cNvPr id="11" name="Text 9"/>
          <p:cNvSpPr/>
          <p:nvPr/>
        </p:nvSpPr>
        <p:spPr>
          <a:xfrm>
            <a:off x="1051560" y="4096512"/>
            <a:ext cx="4663440" cy="685800"/>
          </a:xfrm>
          <a:prstGeom prst="rect">
            <a:avLst/>
          </a:prstGeom>
          <a:noFill/>
          <a:ln/>
        </p:spPr>
        <p:txBody>
          <a:bodyPr wrap="square" rtlCol="0" anchor="ctr"/>
          <a:lstStyle/>
          <a:p>
            <a:pPr indent="0" marL="0">
              <a:lnSpc>
                <a:spcPts val="1700"/>
              </a:lnSpc>
              <a:buNone/>
            </a:pPr>
            <a:r>
              <a:rPr lang="en-US" sz="1300" dirty="0">
                <a:solidFill>
                  <a:srgbClr val="1F2430"/>
                </a:solidFill>
                <a:latin typeface="Calibri" pitchFamily="34" charset="0"/>
                <a:ea typeface="Calibri" pitchFamily="34" charset="-122"/>
                <a:cs typeface="Calibri" pitchFamily="34" charset="-120"/>
              </a:rPr>
              <a:t>Advanced topics tested before their prerequisites are covered</a:t>
            </a:r>
            <a:endParaRPr lang="en-US" sz="1300" dirty="0"/>
          </a:p>
        </p:txBody>
      </p:sp>
      <p:sp>
        <p:nvSpPr>
          <p:cNvPr id="12" name="Shape 10"/>
          <p:cNvSpPr/>
          <p:nvPr/>
        </p:nvSpPr>
        <p:spPr>
          <a:xfrm>
            <a:off x="822960" y="5257800"/>
            <a:ext cx="82296" cy="82296"/>
          </a:xfrm>
          <a:prstGeom prst="ellipse">
            <a:avLst/>
          </a:prstGeom>
          <a:solidFill>
            <a:srgbClr val="C4212A"/>
          </a:solidFill>
          <a:ln/>
        </p:spPr>
      </p:sp>
      <p:sp>
        <p:nvSpPr>
          <p:cNvPr id="13" name="Text 11"/>
          <p:cNvSpPr/>
          <p:nvPr/>
        </p:nvSpPr>
        <p:spPr>
          <a:xfrm>
            <a:off x="1051560" y="5129784"/>
            <a:ext cx="4663440" cy="685800"/>
          </a:xfrm>
          <a:prstGeom prst="rect">
            <a:avLst/>
          </a:prstGeom>
          <a:noFill/>
          <a:ln/>
        </p:spPr>
        <p:txBody>
          <a:bodyPr wrap="square" rtlCol="0" anchor="ctr"/>
          <a:lstStyle/>
          <a:p>
            <a:pPr indent="0" marL="0">
              <a:lnSpc>
                <a:spcPts val="1700"/>
              </a:lnSpc>
              <a:buNone/>
            </a:pPr>
            <a:r>
              <a:rPr lang="en-US" sz="1300" dirty="0">
                <a:solidFill>
                  <a:srgbClr val="1F2430"/>
                </a:solidFill>
                <a:latin typeface="Calibri" pitchFamily="34" charset="0"/>
                <a:ea typeface="Calibri" pitchFamily="34" charset="-122"/>
                <a:cs typeface="Calibri" pitchFamily="34" charset="-120"/>
              </a:rPr>
              <a:t>Manual paper-setting does not scale with question bank size</a:t>
            </a:r>
            <a:endParaRPr lang="en-US" sz="1300" dirty="0"/>
          </a:p>
        </p:txBody>
      </p:sp>
      <p:sp>
        <p:nvSpPr>
          <p:cNvPr id="14" name="Shape 12"/>
          <p:cNvSpPr/>
          <p:nvPr/>
        </p:nvSpPr>
        <p:spPr>
          <a:xfrm>
            <a:off x="6217920" y="1371600"/>
            <a:ext cx="5468112" cy="4892040"/>
          </a:xfrm>
          <a:prstGeom prst="rect">
            <a:avLst/>
          </a:prstGeom>
          <a:solidFill>
            <a:srgbClr val="1F2430"/>
          </a:solidFill>
          <a:ln/>
        </p:spPr>
      </p:sp>
      <p:sp>
        <p:nvSpPr>
          <p:cNvPr id="15" name="Text 13"/>
          <p:cNvSpPr/>
          <p:nvPr/>
        </p:nvSpPr>
        <p:spPr>
          <a:xfrm>
            <a:off x="6492240" y="1600200"/>
            <a:ext cx="4937760" cy="320040"/>
          </a:xfrm>
          <a:prstGeom prst="rect">
            <a:avLst/>
          </a:prstGeom>
          <a:noFill/>
          <a:ln/>
        </p:spPr>
        <p:txBody>
          <a:bodyPr wrap="square" rtlCol="0" anchor="ctr"/>
          <a:lstStyle/>
          <a:p>
            <a:pPr indent="0" marL="0">
              <a:buNone/>
            </a:pPr>
            <a:r>
              <a:rPr lang="en-US" sz="1200" b="1" spc="150" kern="0" dirty="0">
                <a:solidFill>
                  <a:srgbClr val="C4212A"/>
                </a:solidFill>
                <a:latin typeface="Calibri" pitchFamily="34" charset="0"/>
                <a:ea typeface="Calibri" pitchFamily="34" charset="-122"/>
                <a:cs typeface="Calibri" pitchFamily="34" charset="-120"/>
              </a:rPr>
              <a:t>PROJECT OBJECTIVES</a:t>
            </a:r>
            <a:endParaRPr lang="en-US" sz="1200" dirty="0"/>
          </a:p>
        </p:txBody>
      </p:sp>
      <p:sp>
        <p:nvSpPr>
          <p:cNvPr id="16" name="Shape 14"/>
          <p:cNvSpPr/>
          <p:nvPr/>
        </p:nvSpPr>
        <p:spPr>
          <a:xfrm>
            <a:off x="6537960" y="2157984"/>
            <a:ext cx="82296" cy="82296"/>
          </a:xfrm>
          <a:prstGeom prst="ellipse">
            <a:avLst/>
          </a:prstGeom>
          <a:solidFill>
            <a:srgbClr val="FFFFFF"/>
          </a:solidFill>
          <a:ln/>
        </p:spPr>
      </p:sp>
      <p:sp>
        <p:nvSpPr>
          <p:cNvPr id="17" name="Text 15"/>
          <p:cNvSpPr/>
          <p:nvPr/>
        </p:nvSpPr>
        <p:spPr>
          <a:xfrm>
            <a:off x="6766560" y="2029968"/>
            <a:ext cx="4709160" cy="685800"/>
          </a:xfrm>
          <a:prstGeom prst="rect">
            <a:avLst/>
          </a:prstGeom>
          <a:noFill/>
          <a:ln/>
        </p:spPr>
        <p:txBody>
          <a:bodyPr wrap="square" rtlCol="0" anchor="ctr"/>
          <a:lstStyle/>
          <a:p>
            <a:pPr indent="0" marL="0">
              <a:lnSpc>
                <a:spcPts val="1700"/>
              </a:lnSpc>
              <a:buNone/>
            </a:pPr>
            <a:r>
              <a:rPr lang="en-US" sz="1300" dirty="0">
                <a:solidFill>
                  <a:srgbClr val="FFFFFF"/>
                </a:solidFill>
                <a:latin typeface="Calibri" pitchFamily="34" charset="0"/>
                <a:ea typeface="Calibri" pitchFamily="34" charset="-122"/>
                <a:cs typeface="Calibri" pitchFamily="34" charset="-120"/>
              </a:rPr>
              <a:t>Eliminate duplicate questions using hashing</a:t>
            </a:r>
            <a:endParaRPr lang="en-US" sz="1300" dirty="0"/>
          </a:p>
        </p:txBody>
      </p:sp>
      <p:sp>
        <p:nvSpPr>
          <p:cNvPr id="18" name="Shape 16"/>
          <p:cNvSpPr/>
          <p:nvPr/>
        </p:nvSpPr>
        <p:spPr>
          <a:xfrm>
            <a:off x="6537960" y="3191256"/>
            <a:ext cx="82296" cy="82296"/>
          </a:xfrm>
          <a:prstGeom prst="ellipse">
            <a:avLst/>
          </a:prstGeom>
          <a:solidFill>
            <a:srgbClr val="FFFFFF"/>
          </a:solidFill>
          <a:ln/>
        </p:spPr>
      </p:sp>
      <p:sp>
        <p:nvSpPr>
          <p:cNvPr id="19" name="Text 17"/>
          <p:cNvSpPr/>
          <p:nvPr/>
        </p:nvSpPr>
        <p:spPr>
          <a:xfrm>
            <a:off x="6766560" y="3063240"/>
            <a:ext cx="4709160" cy="685800"/>
          </a:xfrm>
          <a:prstGeom prst="rect">
            <a:avLst/>
          </a:prstGeom>
          <a:noFill/>
          <a:ln/>
        </p:spPr>
        <p:txBody>
          <a:bodyPr wrap="square" rtlCol="0" anchor="ctr"/>
          <a:lstStyle/>
          <a:p>
            <a:pPr indent="0" marL="0">
              <a:lnSpc>
                <a:spcPts val="1700"/>
              </a:lnSpc>
              <a:buNone/>
            </a:pPr>
            <a:r>
              <a:rPr lang="en-US" sz="1300" dirty="0">
                <a:solidFill>
                  <a:srgbClr val="FFFFFF"/>
                </a:solidFill>
                <a:latin typeface="Calibri" pitchFamily="34" charset="0"/>
                <a:ea typeface="Calibri" pitchFamily="34" charset="-122"/>
                <a:cs typeface="Calibri" pitchFamily="34" charset="-120"/>
              </a:rPr>
              <a:t>Classify &amp; retrieve questions by difficulty via a BST</a:t>
            </a:r>
            <a:endParaRPr lang="en-US" sz="1300" dirty="0"/>
          </a:p>
        </p:txBody>
      </p:sp>
      <p:sp>
        <p:nvSpPr>
          <p:cNvPr id="20" name="Shape 18"/>
          <p:cNvSpPr/>
          <p:nvPr/>
        </p:nvSpPr>
        <p:spPr>
          <a:xfrm>
            <a:off x="6537960" y="4224528"/>
            <a:ext cx="82296" cy="82296"/>
          </a:xfrm>
          <a:prstGeom prst="ellipse">
            <a:avLst/>
          </a:prstGeom>
          <a:solidFill>
            <a:srgbClr val="FFFFFF"/>
          </a:solidFill>
          <a:ln/>
        </p:spPr>
      </p:sp>
      <p:sp>
        <p:nvSpPr>
          <p:cNvPr id="21" name="Text 19"/>
          <p:cNvSpPr/>
          <p:nvPr/>
        </p:nvSpPr>
        <p:spPr>
          <a:xfrm>
            <a:off x="6766560" y="4096512"/>
            <a:ext cx="4709160" cy="685800"/>
          </a:xfrm>
          <a:prstGeom prst="rect">
            <a:avLst/>
          </a:prstGeom>
          <a:noFill/>
          <a:ln/>
        </p:spPr>
        <p:txBody>
          <a:bodyPr wrap="square" rtlCol="0" anchor="ctr"/>
          <a:lstStyle/>
          <a:p>
            <a:pPr indent="0" marL="0">
              <a:lnSpc>
                <a:spcPts val="1700"/>
              </a:lnSpc>
              <a:buNone/>
            </a:pPr>
            <a:r>
              <a:rPr lang="en-US" sz="1300" dirty="0">
                <a:solidFill>
                  <a:srgbClr val="FFFFFF"/>
                </a:solidFill>
                <a:latin typeface="Calibri" pitchFamily="34" charset="0"/>
                <a:ea typeface="Calibri" pitchFamily="34" charset="-122"/>
                <a:cs typeface="Calibri" pitchFamily="34" charset="-120"/>
              </a:rPr>
              <a:t>Model &amp; respect topic dependencies via a directed graph</a:t>
            </a:r>
            <a:endParaRPr lang="en-US" sz="1300" dirty="0"/>
          </a:p>
        </p:txBody>
      </p:sp>
      <p:sp>
        <p:nvSpPr>
          <p:cNvPr id="22" name="Shape 20"/>
          <p:cNvSpPr/>
          <p:nvPr/>
        </p:nvSpPr>
        <p:spPr>
          <a:xfrm>
            <a:off x="6537960" y="5257800"/>
            <a:ext cx="82296" cy="82296"/>
          </a:xfrm>
          <a:prstGeom prst="ellipse">
            <a:avLst/>
          </a:prstGeom>
          <a:solidFill>
            <a:srgbClr val="FFFFFF"/>
          </a:solidFill>
          <a:ln/>
        </p:spPr>
      </p:sp>
      <p:sp>
        <p:nvSpPr>
          <p:cNvPr id="23" name="Text 21"/>
          <p:cNvSpPr/>
          <p:nvPr/>
        </p:nvSpPr>
        <p:spPr>
          <a:xfrm>
            <a:off x="6766560" y="5129784"/>
            <a:ext cx="4709160" cy="685800"/>
          </a:xfrm>
          <a:prstGeom prst="rect">
            <a:avLst/>
          </a:prstGeom>
          <a:noFill/>
          <a:ln/>
        </p:spPr>
        <p:txBody>
          <a:bodyPr wrap="square" rtlCol="0" anchor="ctr"/>
          <a:lstStyle/>
          <a:p>
            <a:pPr indent="0" marL="0">
              <a:lnSpc>
                <a:spcPts val="1700"/>
              </a:lnSpc>
              <a:buNone/>
            </a:pPr>
            <a:r>
              <a:rPr lang="en-US" sz="1300" dirty="0">
                <a:solidFill>
                  <a:srgbClr val="FFFFFF"/>
                </a:solidFill>
                <a:latin typeface="Calibri" pitchFamily="34" charset="0"/>
                <a:ea typeface="Calibri" pitchFamily="34" charset="-122"/>
                <a:cs typeface="Calibri" pitchFamily="34" charset="-120"/>
              </a:rPr>
              <a:t>Assemble shuffled, balanced papers via sort/search</a:t>
            </a:r>
            <a:endParaRPr lang="en-US" sz="1300" dirty="0"/>
          </a:p>
        </p:txBody>
      </p:sp>
      <p:sp>
        <p:nvSpPr>
          <p:cNvPr id="24" name="Text 22"/>
          <p:cNvSpPr/>
          <p:nvPr/>
        </p:nvSpPr>
        <p:spPr>
          <a:xfrm>
            <a:off x="457200" y="6528816"/>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Automated Question Bank Generator  ·  Review 1</a:t>
            </a:r>
            <a:endParaRPr lang="en-US" sz="900" dirty="0"/>
          </a:p>
        </p:txBody>
      </p:sp>
      <p:sp>
        <p:nvSpPr>
          <p:cNvPr id="25" name="Text 23"/>
          <p:cNvSpPr/>
          <p:nvPr/>
        </p:nvSpPr>
        <p:spPr>
          <a:xfrm>
            <a:off x="11521440" y="6528816"/>
            <a:ext cx="4572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11480"/>
            <a:ext cx="10058400" cy="548640"/>
          </a:xfrm>
          <a:prstGeom prst="rect">
            <a:avLst/>
          </a:prstGeom>
          <a:noFill/>
          <a:ln/>
        </p:spPr>
        <p:txBody>
          <a:bodyPr wrap="square" rtlCol="0" anchor="ctr"/>
          <a:lstStyle/>
          <a:p>
            <a:pPr indent="0" marL="0">
              <a:buNone/>
            </a:pPr>
            <a:r>
              <a:rPr lang="en-US" sz="2700" b="1" dirty="0">
                <a:solidFill>
                  <a:srgbClr val="1F2430"/>
                </a:solidFill>
                <a:latin typeface="Georgia" pitchFamily="34" charset="0"/>
                <a:ea typeface="Georgia" pitchFamily="34" charset="-122"/>
                <a:cs typeface="Georgia" pitchFamily="34" charset="-120"/>
              </a:rPr>
              <a:t>Proposed System — Data Structures Used</a:t>
            </a:r>
            <a:endParaRPr lang="en-US" sz="2700" dirty="0"/>
          </a:p>
        </p:txBody>
      </p:sp>
      <p:sp>
        <p:nvSpPr>
          <p:cNvPr id="3" name="Shape 1"/>
          <p:cNvSpPr/>
          <p:nvPr/>
        </p:nvSpPr>
        <p:spPr>
          <a:xfrm>
            <a:off x="521208" y="1005840"/>
            <a:ext cx="502920" cy="54864"/>
          </a:xfrm>
          <a:prstGeom prst="rect">
            <a:avLst/>
          </a:prstGeom>
          <a:solidFill>
            <a:srgbClr val="C4212A"/>
          </a:solidFill>
          <a:ln/>
        </p:spPr>
      </p:sp>
      <p:sp>
        <p:nvSpPr>
          <p:cNvPr id="4" name="Shape 2"/>
          <p:cNvSpPr/>
          <p:nvPr/>
        </p:nvSpPr>
        <p:spPr>
          <a:xfrm>
            <a:off x="502920" y="1417320"/>
            <a:ext cx="2724912" cy="4160520"/>
          </a:xfrm>
          <a:prstGeom prst="rect">
            <a:avLst/>
          </a:prstGeom>
          <a:solidFill>
            <a:srgbClr val="F7F6F4"/>
          </a:solidFill>
          <a:ln w="12700">
            <a:solidFill>
              <a:srgbClr val="E7E5E2"/>
            </a:solidFill>
            <a:prstDash val="solid"/>
          </a:ln>
        </p:spPr>
      </p:sp>
      <p:sp>
        <p:nvSpPr>
          <p:cNvPr id="5" name="Shape 3"/>
          <p:cNvSpPr/>
          <p:nvPr/>
        </p:nvSpPr>
        <p:spPr>
          <a:xfrm>
            <a:off x="731520" y="1691640"/>
            <a:ext cx="566928" cy="566928"/>
          </a:xfrm>
          <a:prstGeom prst="ellipse">
            <a:avLst/>
          </a:prstGeom>
          <a:solidFill>
            <a:srgbClr val="C4212A"/>
          </a:solidFill>
          <a:ln/>
        </p:spPr>
      </p:sp>
      <p:sp>
        <p:nvSpPr>
          <p:cNvPr id="6" name="Text 4"/>
          <p:cNvSpPr/>
          <p:nvPr/>
        </p:nvSpPr>
        <p:spPr>
          <a:xfrm>
            <a:off x="731520" y="1691640"/>
            <a:ext cx="566928" cy="566928"/>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H</a:t>
            </a:r>
            <a:endParaRPr lang="en-US" sz="2000" dirty="0"/>
          </a:p>
        </p:txBody>
      </p:sp>
      <p:sp>
        <p:nvSpPr>
          <p:cNvPr id="7" name="Text 5"/>
          <p:cNvSpPr/>
          <p:nvPr/>
        </p:nvSpPr>
        <p:spPr>
          <a:xfrm>
            <a:off x="731520" y="2423160"/>
            <a:ext cx="2267712" cy="502920"/>
          </a:xfrm>
          <a:prstGeom prst="rect">
            <a:avLst/>
          </a:prstGeom>
          <a:noFill/>
          <a:ln/>
        </p:spPr>
        <p:txBody>
          <a:bodyPr wrap="square" rtlCol="0" anchor="ctr"/>
          <a:lstStyle/>
          <a:p>
            <a:pPr indent="0" marL="0">
              <a:lnSpc>
                <a:spcPts val="1700"/>
              </a:lnSpc>
              <a:buNone/>
            </a:pPr>
            <a:r>
              <a:rPr lang="en-US" sz="1500" b="1" dirty="0">
                <a:solidFill>
                  <a:srgbClr val="1F2430"/>
                </a:solidFill>
                <a:latin typeface="Calibri" pitchFamily="34" charset="0"/>
                <a:ea typeface="Calibri" pitchFamily="34" charset="-122"/>
                <a:cs typeface="Calibri" pitchFamily="34" charset="-120"/>
              </a:rPr>
              <a:t>Hash Table</a:t>
            </a:r>
            <a:endParaRPr lang="en-US" sz="1500" dirty="0"/>
          </a:p>
        </p:txBody>
      </p:sp>
      <p:sp>
        <p:nvSpPr>
          <p:cNvPr id="8" name="Text 6"/>
          <p:cNvSpPr/>
          <p:nvPr/>
        </p:nvSpPr>
        <p:spPr>
          <a:xfrm>
            <a:off x="731520" y="2926080"/>
            <a:ext cx="2267712" cy="274320"/>
          </a:xfrm>
          <a:prstGeom prst="rect">
            <a:avLst/>
          </a:prstGeom>
          <a:noFill/>
          <a:ln/>
        </p:spPr>
        <p:txBody>
          <a:bodyPr wrap="square" rtlCol="0" anchor="ctr"/>
          <a:lstStyle/>
          <a:p>
            <a:pPr indent="0" marL="0">
              <a:buNone/>
            </a:pPr>
            <a:r>
              <a:rPr lang="en-US" sz="950" b="1" spc="100" kern="0" dirty="0">
                <a:solidFill>
                  <a:srgbClr val="C4212A"/>
                </a:solidFill>
                <a:latin typeface="Calibri" pitchFamily="34" charset="0"/>
                <a:ea typeface="Calibri" pitchFamily="34" charset="-122"/>
                <a:cs typeface="Calibri" pitchFamily="34" charset="-120"/>
              </a:rPr>
              <a:t>DUPLICATE DETECTION</a:t>
            </a:r>
            <a:endParaRPr lang="en-US" sz="950" dirty="0"/>
          </a:p>
        </p:txBody>
      </p:sp>
      <p:sp>
        <p:nvSpPr>
          <p:cNvPr id="9" name="Text 7"/>
          <p:cNvSpPr/>
          <p:nvPr/>
        </p:nvSpPr>
        <p:spPr>
          <a:xfrm>
            <a:off x="731520" y="3291840"/>
            <a:ext cx="2267712" cy="2148840"/>
          </a:xfrm>
          <a:prstGeom prst="rect">
            <a:avLst/>
          </a:prstGeom>
          <a:noFill/>
          <a:ln/>
        </p:spPr>
        <p:txBody>
          <a:bodyPr wrap="square" rtlCol="0" anchor="ctr"/>
          <a:lstStyle/>
          <a:p>
            <a:pPr indent="0" marL="0">
              <a:lnSpc>
                <a:spcPts val="1450"/>
              </a:lnSpc>
              <a:buNone/>
            </a:pPr>
            <a:r>
              <a:rPr lang="en-US" sz="1050" dirty="0">
                <a:solidFill>
                  <a:srgbClr val="5B6472"/>
                </a:solidFill>
                <a:latin typeface="Calibri" pitchFamily="34" charset="0"/>
                <a:ea typeface="Calibri" pitchFamily="34" charset="-122"/>
                <a:cs typeface="Calibri" pitchFamily="34" charset="-120"/>
              </a:rPr>
              <a:t>Question text is hashed to a fingerprint; O(1) average lookup rejects repeats before storage.</a:t>
            </a:r>
            <a:endParaRPr lang="en-US" sz="1050" dirty="0"/>
          </a:p>
        </p:txBody>
      </p:sp>
      <p:sp>
        <p:nvSpPr>
          <p:cNvPr id="10" name="Shape 8"/>
          <p:cNvSpPr/>
          <p:nvPr/>
        </p:nvSpPr>
        <p:spPr>
          <a:xfrm>
            <a:off x="3392424" y="1417320"/>
            <a:ext cx="2724912" cy="4160520"/>
          </a:xfrm>
          <a:prstGeom prst="rect">
            <a:avLst/>
          </a:prstGeom>
          <a:solidFill>
            <a:srgbClr val="F7F6F4"/>
          </a:solidFill>
          <a:ln w="12700">
            <a:solidFill>
              <a:srgbClr val="E7E5E2"/>
            </a:solidFill>
            <a:prstDash val="solid"/>
          </a:ln>
        </p:spPr>
      </p:sp>
      <p:sp>
        <p:nvSpPr>
          <p:cNvPr id="11" name="Shape 9"/>
          <p:cNvSpPr/>
          <p:nvPr/>
        </p:nvSpPr>
        <p:spPr>
          <a:xfrm>
            <a:off x="3621024" y="1691640"/>
            <a:ext cx="566928" cy="566928"/>
          </a:xfrm>
          <a:prstGeom prst="ellipse">
            <a:avLst/>
          </a:prstGeom>
          <a:solidFill>
            <a:srgbClr val="C4212A"/>
          </a:solidFill>
          <a:ln/>
        </p:spPr>
      </p:sp>
      <p:sp>
        <p:nvSpPr>
          <p:cNvPr id="12" name="Text 10"/>
          <p:cNvSpPr/>
          <p:nvPr/>
        </p:nvSpPr>
        <p:spPr>
          <a:xfrm>
            <a:off x="3621024" y="1691640"/>
            <a:ext cx="566928" cy="566928"/>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T</a:t>
            </a:r>
            <a:endParaRPr lang="en-US" sz="2000" dirty="0"/>
          </a:p>
        </p:txBody>
      </p:sp>
      <p:sp>
        <p:nvSpPr>
          <p:cNvPr id="13" name="Text 11"/>
          <p:cNvSpPr/>
          <p:nvPr/>
        </p:nvSpPr>
        <p:spPr>
          <a:xfrm>
            <a:off x="3621024" y="2423160"/>
            <a:ext cx="2267712" cy="502920"/>
          </a:xfrm>
          <a:prstGeom prst="rect">
            <a:avLst/>
          </a:prstGeom>
          <a:noFill/>
          <a:ln/>
        </p:spPr>
        <p:txBody>
          <a:bodyPr wrap="square" rtlCol="0" anchor="ctr"/>
          <a:lstStyle/>
          <a:p>
            <a:pPr indent="0" marL="0">
              <a:lnSpc>
                <a:spcPts val="1700"/>
              </a:lnSpc>
              <a:buNone/>
            </a:pPr>
            <a:r>
              <a:rPr lang="en-US" sz="1500" b="1" dirty="0">
                <a:solidFill>
                  <a:srgbClr val="1F2430"/>
                </a:solidFill>
                <a:latin typeface="Calibri" pitchFamily="34" charset="0"/>
                <a:ea typeface="Calibri" pitchFamily="34" charset="-122"/>
                <a:cs typeface="Calibri" pitchFamily="34" charset="-120"/>
              </a:rPr>
              <a:t>Binary Search Tree</a:t>
            </a:r>
            <a:endParaRPr lang="en-US" sz="1500" dirty="0"/>
          </a:p>
        </p:txBody>
      </p:sp>
      <p:sp>
        <p:nvSpPr>
          <p:cNvPr id="14" name="Text 12"/>
          <p:cNvSpPr/>
          <p:nvPr/>
        </p:nvSpPr>
        <p:spPr>
          <a:xfrm>
            <a:off x="3621024" y="2926080"/>
            <a:ext cx="2267712" cy="274320"/>
          </a:xfrm>
          <a:prstGeom prst="rect">
            <a:avLst/>
          </a:prstGeom>
          <a:noFill/>
          <a:ln/>
        </p:spPr>
        <p:txBody>
          <a:bodyPr wrap="square" rtlCol="0" anchor="ctr"/>
          <a:lstStyle/>
          <a:p>
            <a:pPr indent="0" marL="0">
              <a:buNone/>
            </a:pPr>
            <a:r>
              <a:rPr lang="en-US" sz="950" b="1" spc="100" kern="0" dirty="0">
                <a:solidFill>
                  <a:srgbClr val="C4212A"/>
                </a:solidFill>
                <a:latin typeface="Calibri" pitchFamily="34" charset="0"/>
                <a:ea typeface="Calibri" pitchFamily="34" charset="-122"/>
                <a:cs typeface="Calibri" pitchFamily="34" charset="-120"/>
              </a:rPr>
              <a:t>DIFFICULTY INDEXING</a:t>
            </a:r>
            <a:endParaRPr lang="en-US" sz="950" dirty="0"/>
          </a:p>
        </p:txBody>
      </p:sp>
      <p:sp>
        <p:nvSpPr>
          <p:cNvPr id="15" name="Text 13"/>
          <p:cNvSpPr/>
          <p:nvPr/>
        </p:nvSpPr>
        <p:spPr>
          <a:xfrm>
            <a:off x="3621024" y="3291840"/>
            <a:ext cx="2267712" cy="2148840"/>
          </a:xfrm>
          <a:prstGeom prst="rect">
            <a:avLst/>
          </a:prstGeom>
          <a:noFill/>
          <a:ln/>
        </p:spPr>
        <p:txBody>
          <a:bodyPr wrap="square" rtlCol="0" anchor="ctr"/>
          <a:lstStyle/>
          <a:p>
            <a:pPr indent="0" marL="0">
              <a:lnSpc>
                <a:spcPts val="1450"/>
              </a:lnSpc>
              <a:buNone/>
            </a:pPr>
            <a:r>
              <a:rPr lang="en-US" sz="1050" dirty="0">
                <a:solidFill>
                  <a:srgbClr val="5B6472"/>
                </a:solidFill>
                <a:latin typeface="Calibri" pitchFamily="34" charset="0"/>
                <a:ea typeface="Calibri" pitchFamily="34" charset="-122"/>
                <a:cs typeface="Calibri" pitchFamily="34" charset="-120"/>
              </a:rPr>
              <a:t>Questions are keyed by difficulty score; in-order traversal yields an easy-to-hard ordering.</a:t>
            </a:r>
            <a:endParaRPr lang="en-US" sz="1050" dirty="0"/>
          </a:p>
        </p:txBody>
      </p:sp>
      <p:sp>
        <p:nvSpPr>
          <p:cNvPr id="16" name="Shape 14"/>
          <p:cNvSpPr/>
          <p:nvPr/>
        </p:nvSpPr>
        <p:spPr>
          <a:xfrm>
            <a:off x="6281928" y="1417320"/>
            <a:ext cx="2724912" cy="4160520"/>
          </a:xfrm>
          <a:prstGeom prst="rect">
            <a:avLst/>
          </a:prstGeom>
          <a:solidFill>
            <a:srgbClr val="F7F6F4"/>
          </a:solidFill>
          <a:ln w="12700">
            <a:solidFill>
              <a:srgbClr val="E7E5E2"/>
            </a:solidFill>
            <a:prstDash val="solid"/>
          </a:ln>
        </p:spPr>
      </p:sp>
      <p:sp>
        <p:nvSpPr>
          <p:cNvPr id="17" name="Shape 15"/>
          <p:cNvSpPr/>
          <p:nvPr/>
        </p:nvSpPr>
        <p:spPr>
          <a:xfrm>
            <a:off x="6510528" y="1691640"/>
            <a:ext cx="566928" cy="566928"/>
          </a:xfrm>
          <a:prstGeom prst="ellipse">
            <a:avLst/>
          </a:prstGeom>
          <a:solidFill>
            <a:srgbClr val="C4212A"/>
          </a:solidFill>
          <a:ln/>
        </p:spPr>
      </p:sp>
      <p:sp>
        <p:nvSpPr>
          <p:cNvPr id="18" name="Text 16"/>
          <p:cNvSpPr/>
          <p:nvPr/>
        </p:nvSpPr>
        <p:spPr>
          <a:xfrm>
            <a:off x="6510528" y="1691640"/>
            <a:ext cx="566928" cy="566928"/>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G</a:t>
            </a:r>
            <a:endParaRPr lang="en-US" sz="2000" dirty="0"/>
          </a:p>
        </p:txBody>
      </p:sp>
      <p:sp>
        <p:nvSpPr>
          <p:cNvPr id="19" name="Text 17"/>
          <p:cNvSpPr/>
          <p:nvPr/>
        </p:nvSpPr>
        <p:spPr>
          <a:xfrm>
            <a:off x="6510528" y="2423160"/>
            <a:ext cx="2267712" cy="502920"/>
          </a:xfrm>
          <a:prstGeom prst="rect">
            <a:avLst/>
          </a:prstGeom>
          <a:noFill/>
          <a:ln/>
        </p:spPr>
        <p:txBody>
          <a:bodyPr wrap="square" rtlCol="0" anchor="ctr"/>
          <a:lstStyle/>
          <a:p>
            <a:pPr indent="0" marL="0">
              <a:lnSpc>
                <a:spcPts val="1700"/>
              </a:lnSpc>
              <a:buNone/>
            </a:pPr>
            <a:r>
              <a:rPr lang="en-US" sz="1500" b="1" dirty="0">
                <a:solidFill>
                  <a:srgbClr val="1F2430"/>
                </a:solidFill>
                <a:latin typeface="Calibri" pitchFamily="34" charset="0"/>
                <a:ea typeface="Calibri" pitchFamily="34" charset="-122"/>
                <a:cs typeface="Calibri" pitchFamily="34" charset="-120"/>
              </a:rPr>
              <a:t>Directed Graph</a:t>
            </a:r>
            <a:endParaRPr lang="en-US" sz="1500" dirty="0"/>
          </a:p>
        </p:txBody>
      </p:sp>
      <p:sp>
        <p:nvSpPr>
          <p:cNvPr id="20" name="Text 18"/>
          <p:cNvSpPr/>
          <p:nvPr/>
        </p:nvSpPr>
        <p:spPr>
          <a:xfrm>
            <a:off x="6510528" y="2926080"/>
            <a:ext cx="2267712" cy="274320"/>
          </a:xfrm>
          <a:prstGeom prst="rect">
            <a:avLst/>
          </a:prstGeom>
          <a:noFill/>
          <a:ln/>
        </p:spPr>
        <p:txBody>
          <a:bodyPr wrap="square" rtlCol="0" anchor="ctr"/>
          <a:lstStyle/>
          <a:p>
            <a:pPr indent="0" marL="0">
              <a:buNone/>
            </a:pPr>
            <a:r>
              <a:rPr lang="en-US" sz="950" b="1" spc="100" kern="0" dirty="0">
                <a:solidFill>
                  <a:srgbClr val="C4212A"/>
                </a:solidFill>
                <a:latin typeface="Calibri" pitchFamily="34" charset="0"/>
                <a:ea typeface="Calibri" pitchFamily="34" charset="-122"/>
                <a:cs typeface="Calibri" pitchFamily="34" charset="-120"/>
              </a:rPr>
              <a:t>TOPIC PREREQUISITES</a:t>
            </a:r>
            <a:endParaRPr lang="en-US" sz="950" dirty="0"/>
          </a:p>
        </p:txBody>
      </p:sp>
      <p:sp>
        <p:nvSpPr>
          <p:cNvPr id="21" name="Text 19"/>
          <p:cNvSpPr/>
          <p:nvPr/>
        </p:nvSpPr>
        <p:spPr>
          <a:xfrm>
            <a:off x="6510528" y="3291840"/>
            <a:ext cx="2267712" cy="2148840"/>
          </a:xfrm>
          <a:prstGeom prst="rect">
            <a:avLst/>
          </a:prstGeom>
          <a:noFill/>
          <a:ln/>
        </p:spPr>
        <p:txBody>
          <a:bodyPr wrap="square" rtlCol="0" anchor="ctr"/>
          <a:lstStyle/>
          <a:p>
            <a:pPr indent="0" marL="0">
              <a:lnSpc>
                <a:spcPts val="1450"/>
              </a:lnSpc>
              <a:buNone/>
            </a:pPr>
            <a:r>
              <a:rPr lang="en-US" sz="1050" dirty="0">
                <a:solidFill>
                  <a:srgbClr val="5B6472"/>
                </a:solidFill>
                <a:latin typeface="Calibri" pitchFamily="34" charset="0"/>
                <a:ea typeface="Calibri" pitchFamily="34" charset="-122"/>
                <a:cs typeface="Calibri" pitchFamily="34" charset="-120"/>
              </a:rPr>
              <a:t>Topics are nodes and prerequisite links are edges; topological sort orders valid sequences.</a:t>
            </a:r>
            <a:endParaRPr lang="en-US" sz="1050" dirty="0"/>
          </a:p>
        </p:txBody>
      </p:sp>
      <p:sp>
        <p:nvSpPr>
          <p:cNvPr id="22" name="Shape 20"/>
          <p:cNvSpPr/>
          <p:nvPr/>
        </p:nvSpPr>
        <p:spPr>
          <a:xfrm>
            <a:off x="9171432" y="1417320"/>
            <a:ext cx="2724912" cy="4160520"/>
          </a:xfrm>
          <a:prstGeom prst="rect">
            <a:avLst/>
          </a:prstGeom>
          <a:solidFill>
            <a:srgbClr val="F7F6F4"/>
          </a:solidFill>
          <a:ln w="12700">
            <a:solidFill>
              <a:srgbClr val="E7E5E2"/>
            </a:solidFill>
            <a:prstDash val="solid"/>
          </a:ln>
        </p:spPr>
      </p:sp>
      <p:sp>
        <p:nvSpPr>
          <p:cNvPr id="23" name="Shape 21"/>
          <p:cNvSpPr/>
          <p:nvPr/>
        </p:nvSpPr>
        <p:spPr>
          <a:xfrm>
            <a:off x="9400032" y="1691640"/>
            <a:ext cx="566928" cy="566928"/>
          </a:xfrm>
          <a:prstGeom prst="ellipse">
            <a:avLst/>
          </a:prstGeom>
          <a:solidFill>
            <a:srgbClr val="C4212A"/>
          </a:solidFill>
          <a:ln/>
        </p:spPr>
      </p:sp>
      <p:sp>
        <p:nvSpPr>
          <p:cNvPr id="24" name="Text 22"/>
          <p:cNvSpPr/>
          <p:nvPr/>
        </p:nvSpPr>
        <p:spPr>
          <a:xfrm>
            <a:off x="9400032" y="1691640"/>
            <a:ext cx="566928" cy="566928"/>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S</a:t>
            </a:r>
            <a:endParaRPr lang="en-US" sz="2000" dirty="0"/>
          </a:p>
        </p:txBody>
      </p:sp>
      <p:sp>
        <p:nvSpPr>
          <p:cNvPr id="25" name="Text 23"/>
          <p:cNvSpPr/>
          <p:nvPr/>
        </p:nvSpPr>
        <p:spPr>
          <a:xfrm>
            <a:off x="9400032" y="2423160"/>
            <a:ext cx="2267712" cy="502920"/>
          </a:xfrm>
          <a:prstGeom prst="rect">
            <a:avLst/>
          </a:prstGeom>
          <a:noFill/>
          <a:ln/>
        </p:spPr>
        <p:txBody>
          <a:bodyPr wrap="square" rtlCol="0" anchor="ctr"/>
          <a:lstStyle/>
          <a:p>
            <a:pPr indent="0" marL="0">
              <a:lnSpc>
                <a:spcPts val="1700"/>
              </a:lnSpc>
              <a:buNone/>
            </a:pPr>
            <a:r>
              <a:rPr lang="en-US" sz="1500" b="1" dirty="0">
                <a:solidFill>
                  <a:srgbClr val="1F2430"/>
                </a:solidFill>
                <a:latin typeface="Calibri" pitchFamily="34" charset="0"/>
                <a:ea typeface="Calibri" pitchFamily="34" charset="-122"/>
                <a:cs typeface="Calibri" pitchFamily="34" charset="-120"/>
              </a:rPr>
              <a:t>Sort &amp; Search</a:t>
            </a:r>
            <a:endParaRPr lang="en-US" sz="1500" dirty="0"/>
          </a:p>
        </p:txBody>
      </p:sp>
      <p:sp>
        <p:nvSpPr>
          <p:cNvPr id="26" name="Text 24"/>
          <p:cNvSpPr/>
          <p:nvPr/>
        </p:nvSpPr>
        <p:spPr>
          <a:xfrm>
            <a:off x="9400032" y="2926080"/>
            <a:ext cx="2267712" cy="274320"/>
          </a:xfrm>
          <a:prstGeom prst="rect">
            <a:avLst/>
          </a:prstGeom>
          <a:noFill/>
          <a:ln/>
        </p:spPr>
        <p:txBody>
          <a:bodyPr wrap="square" rtlCol="0" anchor="ctr"/>
          <a:lstStyle/>
          <a:p>
            <a:pPr indent="0" marL="0">
              <a:buNone/>
            </a:pPr>
            <a:r>
              <a:rPr lang="en-US" sz="950" b="1" spc="100" kern="0" dirty="0">
                <a:solidFill>
                  <a:srgbClr val="C4212A"/>
                </a:solidFill>
                <a:latin typeface="Calibri" pitchFamily="34" charset="0"/>
                <a:ea typeface="Calibri" pitchFamily="34" charset="-122"/>
                <a:cs typeface="Calibri" pitchFamily="34" charset="-120"/>
              </a:rPr>
              <a:t>PAPER ASSEMBLY</a:t>
            </a:r>
            <a:endParaRPr lang="en-US" sz="950" dirty="0"/>
          </a:p>
        </p:txBody>
      </p:sp>
      <p:sp>
        <p:nvSpPr>
          <p:cNvPr id="27" name="Text 25"/>
          <p:cNvSpPr/>
          <p:nvPr/>
        </p:nvSpPr>
        <p:spPr>
          <a:xfrm>
            <a:off x="9400032" y="3291840"/>
            <a:ext cx="2267712" cy="2148840"/>
          </a:xfrm>
          <a:prstGeom prst="rect">
            <a:avLst/>
          </a:prstGeom>
          <a:noFill/>
          <a:ln/>
        </p:spPr>
        <p:txBody>
          <a:bodyPr wrap="square" rtlCol="0" anchor="ctr"/>
          <a:lstStyle/>
          <a:p>
            <a:pPr indent="0" marL="0">
              <a:lnSpc>
                <a:spcPts val="1450"/>
              </a:lnSpc>
              <a:buNone/>
            </a:pPr>
            <a:r>
              <a:rPr lang="en-US" sz="1050" dirty="0">
                <a:solidFill>
                  <a:srgbClr val="5B6472"/>
                </a:solidFill>
                <a:latin typeface="Calibri" pitchFamily="34" charset="0"/>
                <a:ea typeface="Calibri" pitchFamily="34" charset="-122"/>
                <a:cs typeface="Calibri" pitchFamily="34" charset="-120"/>
              </a:rPr>
              <a:t>A Fisher–Yates shuffle randomizes selection; binary search retrieves questions by ID fast.</a:t>
            </a:r>
            <a:endParaRPr lang="en-US" sz="1050" dirty="0"/>
          </a:p>
        </p:txBody>
      </p:sp>
      <p:sp>
        <p:nvSpPr>
          <p:cNvPr id="28" name="Text 26"/>
          <p:cNvSpPr/>
          <p:nvPr/>
        </p:nvSpPr>
        <p:spPr>
          <a:xfrm>
            <a:off x="502920" y="5806440"/>
            <a:ext cx="11155680" cy="502920"/>
          </a:xfrm>
          <a:prstGeom prst="rect">
            <a:avLst/>
          </a:prstGeom>
          <a:noFill/>
          <a:ln/>
        </p:spPr>
        <p:txBody>
          <a:bodyPr wrap="square" rtlCol="0" anchor="ctr"/>
          <a:lstStyle/>
          <a:p>
            <a:pPr algn="ctr" indent="0" marL="0">
              <a:buNone/>
            </a:pPr>
            <a:r>
              <a:rPr lang="en-US" sz="1200" i="1" dirty="0">
                <a:solidFill>
                  <a:srgbClr val="5B6472"/>
                </a:solidFill>
                <a:latin typeface="Calibri" pitchFamily="34" charset="0"/>
                <a:ea typeface="Calibri" pitchFamily="34" charset="-122"/>
                <a:cs typeface="Calibri" pitchFamily="34" charset="-120"/>
              </a:rPr>
              <a:t>Together, the four structures form one pipeline: filter duplicates → classify by difficulty → validate prerequisites → assemble a balanced paper.</a:t>
            </a:r>
            <a:endParaRPr lang="en-US" sz="1200" dirty="0"/>
          </a:p>
        </p:txBody>
      </p:sp>
      <p:sp>
        <p:nvSpPr>
          <p:cNvPr id="29" name="Text 27"/>
          <p:cNvSpPr/>
          <p:nvPr/>
        </p:nvSpPr>
        <p:spPr>
          <a:xfrm>
            <a:off x="457200" y="6528816"/>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Automated Question Bank Generator  ·  Review 1</a:t>
            </a:r>
            <a:endParaRPr lang="en-US" sz="900" dirty="0"/>
          </a:p>
        </p:txBody>
      </p:sp>
      <p:sp>
        <p:nvSpPr>
          <p:cNvPr id="30" name="Text 28"/>
          <p:cNvSpPr/>
          <p:nvPr/>
        </p:nvSpPr>
        <p:spPr>
          <a:xfrm>
            <a:off x="11521440" y="6528816"/>
            <a:ext cx="4572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2026-08-05T05:27:53Z</dcterms:created>
  <dcterms:modified xsi:type="dcterms:W3CDTF">2026-08-05T05:27:53Z</dcterms:modified>
</cp:coreProperties>
</file>